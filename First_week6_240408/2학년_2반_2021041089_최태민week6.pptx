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8C3A16-EB24-44E0-93B9-1CE0B7537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3135FF-CB86-4602-8B8D-0C40BCF9C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49EE25-45D1-4DFC-B09D-640935120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FA0E-609B-4F64-B567-0F763B58B843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D33C5F-B2C0-41BF-AF1F-5B875F853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A93B0F-D31A-462A-A5AB-B3184C3B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B0A4-2E3A-406F-AF01-0D9FC8F46B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184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47104D-4C9B-443A-AAF8-21D5A5583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3AC852-5BAE-4893-A407-354BC2844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04E77D-F64A-4AB1-8D63-240BDA60B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FA0E-609B-4F64-B567-0F763B58B843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F0B28B-8E99-4F52-9ADB-2183BA9EA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853896-A55F-4572-8181-465CFF638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B0A4-2E3A-406F-AF01-0D9FC8F46B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948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723193-6442-479C-932B-5E527CB4D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6E8E9F-8F32-48AA-B211-CF6C892FE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7F69F0-EFDB-4BBE-9A27-D2C31D82C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FA0E-609B-4F64-B567-0F763B58B843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A6E143-CBBE-4ECD-8DE4-1E808E30F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E61134-F067-4796-905B-3FC31434D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B0A4-2E3A-406F-AF01-0D9FC8F46B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261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69F24D-81F1-476F-B7F9-ED4FDE862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D8C27-6118-41DF-8FCD-18532E7C1E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538625-F25C-4FB8-AAD4-2A81ECE90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F6650F-321A-4251-824D-F829CB7D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FA0E-609B-4F64-B567-0F763B58B843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3FC902-A1C9-4D1A-B57D-BC701B8BB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8DC45B-A152-4873-AD35-5CD892054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B0A4-2E3A-406F-AF01-0D9FC8F46B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614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F67E83-9F90-465B-934D-C270DC110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33A767-44D9-4C14-A01C-CC1E9D9D8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2B14F9-E025-406C-8215-ECBB6A42F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6C432B6-774F-45F0-B365-3B104C4A27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362223-C893-4531-97AC-D9F1B46708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E20FA9-03E4-4179-A453-3E925CB24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FA0E-609B-4F64-B567-0F763B58B843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ABF8C50-271D-4652-9A9D-EB82CC16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D2DB89-958F-4285-9E8C-D46A83B6E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B0A4-2E3A-406F-AF01-0D9FC8F46B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359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5CBFB7-FC82-46A4-B9F0-FF06DA400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0F37F29-FDEA-4BE0-9D2C-F7FF7AB4C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FA0E-609B-4F64-B567-0F763B58B843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D4A6707-7164-4575-98BC-D879E1F98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D1332C-0D98-4382-97B4-946DD10BA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B0A4-2E3A-406F-AF01-0D9FC8F46B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508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5C23817-4815-42C5-A246-80555D2C3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FA0E-609B-4F64-B567-0F763B58B843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044DA13-99AC-4B87-869F-607847C06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6C652E-BECF-4DB4-A90F-097A991DF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B0A4-2E3A-406F-AF01-0D9FC8F46B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084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D0AB7-7561-49A1-BC51-0A4DF475F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82CF96-C7BA-42EE-9BF2-9DCB87007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CBA2A2-AE34-40C5-83F2-B60EA3CA5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EDD4EB-9F14-488B-9C89-7CCDEF605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FA0E-609B-4F64-B567-0F763B58B843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DE054B-99CC-43E2-82C9-CCCCA5A1C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31FB6B-13EE-4227-860E-A73ED36D2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B0A4-2E3A-406F-AF01-0D9FC8F46B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326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207855-F142-4E3E-82F6-285EDC42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ED6606-8E46-4594-965D-795F74DAE0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F2CC23-CA44-47C2-B940-DABC1C958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411AFD-692C-4AB8-A00B-7BC01571B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FA0E-609B-4F64-B567-0F763B58B843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D89B0C-4BBF-4F79-BAA1-91E6D99EB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58BA5F-9BFD-45AD-A215-0E3D9E6D3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B0A4-2E3A-406F-AF01-0D9FC8F46B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3079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4E7FB4-5DC6-40A5-BBE4-B95C2609D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8537D28-EA5E-4278-884A-F0818AB2A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D82F23-A0F2-4DC6-8A16-6A90E44D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FA0E-609B-4F64-B567-0F763B58B843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AD0445-475C-40A9-9F2A-719BA9DF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EC43D0-6557-4A17-BC8D-8465BA2A9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B0A4-2E3A-406F-AF01-0D9FC8F46B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332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057ABBD-8F30-4508-90A1-7391483DEC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9C006F-BB97-4AE8-BEB6-F5EB66E79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D288E4-9690-441E-A5F5-FE306AF97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FA0E-609B-4F64-B567-0F763B58B843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061606-AE99-48A1-BF12-9688D3B96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AFD3D4-5A66-4AB2-A840-AE8FA4FE1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B0A4-2E3A-406F-AF01-0D9FC8F46B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256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C0D412-F2ED-4A1A-BD94-C77A0BF33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4BF14F-2B0D-416D-8FA4-8DA689CED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DD2D21-98BF-4F97-8491-90EAEFBBBF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2FA0E-609B-4F64-B567-0F763B58B843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10B666-D1B2-441E-97F3-C279425D60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359ED1-E299-4E87-B643-718F6F345A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9B0A4-2E3A-406F-AF01-0D9FC8F46B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305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2FC04-2D92-4CE5-BD97-2723115063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Week6 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E0DE68E-1FE4-404B-8357-588E9AE183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학년 </a:t>
            </a:r>
            <a:r>
              <a:rPr lang="en-US" altLang="ko-KR" dirty="0"/>
              <a:t>2</a:t>
            </a:r>
            <a:r>
              <a:rPr lang="ko-KR" altLang="en-US" dirty="0"/>
              <a:t>반 </a:t>
            </a:r>
            <a:r>
              <a:rPr lang="en-US" altLang="ko-KR" dirty="0"/>
              <a:t>2021041089 </a:t>
            </a:r>
            <a:r>
              <a:rPr lang="ko-KR" altLang="en-US" dirty="0"/>
              <a:t>최태민</a:t>
            </a:r>
          </a:p>
        </p:txBody>
      </p:sp>
    </p:spTree>
    <p:extLst>
      <p:ext uri="{BB962C8B-B14F-4D97-AF65-F5344CB8AC3E}">
        <p14:creationId xmlns:p14="http://schemas.microsoft.com/office/powerpoint/2010/main" val="1728055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4A1AF-AD41-4C09-B41B-8593C4DC0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 : </a:t>
            </a:r>
            <a:r>
              <a:rPr lang="ko-KR" altLang="en-US" dirty="0" err="1"/>
              <a:t>동작표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629BB4F-315D-45D8-9D3C-D39E99B54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91779"/>
              </p:ext>
            </p:extLst>
          </p:nvPr>
        </p:nvGraphicFramePr>
        <p:xfrm>
          <a:off x="838200" y="1690688"/>
          <a:ext cx="812800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9346">
                  <a:extLst>
                    <a:ext uri="{9D8B030D-6E8A-4147-A177-3AD203B41FA5}">
                      <a16:colId xmlns:a16="http://schemas.microsoft.com/office/drawing/2014/main" val="1293594185"/>
                    </a:ext>
                  </a:extLst>
                </a:gridCol>
                <a:gridCol w="1565031">
                  <a:extLst>
                    <a:ext uri="{9D8B030D-6E8A-4147-A177-3AD203B41FA5}">
                      <a16:colId xmlns:a16="http://schemas.microsoft.com/office/drawing/2014/main" val="142269535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63776170"/>
                    </a:ext>
                  </a:extLst>
                </a:gridCol>
                <a:gridCol w="1005058">
                  <a:extLst>
                    <a:ext uri="{9D8B030D-6E8A-4147-A177-3AD203B41FA5}">
                      <a16:colId xmlns:a16="http://schemas.microsoft.com/office/drawing/2014/main" val="1058007402"/>
                    </a:ext>
                  </a:extLst>
                </a:gridCol>
                <a:gridCol w="764931">
                  <a:extLst>
                    <a:ext uri="{9D8B030D-6E8A-4147-A177-3AD203B41FA5}">
                      <a16:colId xmlns:a16="http://schemas.microsoft.com/office/drawing/2014/main" val="342934285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3906396010"/>
                    </a:ext>
                  </a:extLst>
                </a:gridCol>
                <a:gridCol w="720969">
                  <a:extLst>
                    <a:ext uri="{9D8B030D-6E8A-4147-A177-3AD203B41FA5}">
                      <a16:colId xmlns:a16="http://schemas.microsoft.com/office/drawing/2014/main" val="2152955357"/>
                    </a:ext>
                  </a:extLst>
                </a:gridCol>
                <a:gridCol w="659423">
                  <a:extLst>
                    <a:ext uri="{9D8B030D-6E8A-4147-A177-3AD203B41FA5}">
                      <a16:colId xmlns:a16="http://schemas.microsoft.com/office/drawing/2014/main" val="4070231127"/>
                    </a:ext>
                  </a:extLst>
                </a:gridCol>
                <a:gridCol w="894865">
                  <a:extLst>
                    <a:ext uri="{9D8B030D-6E8A-4147-A177-3AD203B41FA5}">
                      <a16:colId xmlns:a16="http://schemas.microsoft.com/office/drawing/2014/main" val="3663175434"/>
                    </a:ext>
                  </a:extLst>
                </a:gridCol>
              </a:tblGrid>
              <a:tr h="370840">
                <a:tc gridSpan="9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입력 출력 동작 </a:t>
                      </a:r>
                      <a:r>
                        <a:rPr lang="en-US" altLang="ko-KR" dirty="0"/>
                        <a:t>Table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521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X1 (</a:t>
                      </a:r>
                      <a:r>
                        <a:rPr lang="ko-KR" altLang="en-US" dirty="0"/>
                        <a:t>스위치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X2 (</a:t>
                      </a:r>
                      <a:r>
                        <a:rPr lang="ko-KR" altLang="en-US" dirty="0"/>
                        <a:t>스위치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989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573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54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218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924563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4E10EBF-4FC2-4409-990F-B890B0695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088722"/>
              </p:ext>
            </p:extLst>
          </p:nvPr>
        </p:nvGraphicFramePr>
        <p:xfrm>
          <a:off x="838200" y="425119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5726064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6144678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2484141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입력 출력 동작 </a:t>
                      </a:r>
                      <a:r>
                        <a:rPr lang="en-US" altLang="ko-KR" dirty="0"/>
                        <a:t>Table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304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입력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스위치 </a:t>
                      </a:r>
                      <a:r>
                        <a:rPr lang="en-US" altLang="ko-KR" dirty="0"/>
                        <a:t>X0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출력 </a:t>
                      </a:r>
                      <a:r>
                        <a:rPr lang="en-US" altLang="ko-KR" dirty="0"/>
                        <a:t>LED Y0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출력 </a:t>
                      </a:r>
                      <a:r>
                        <a:rPr lang="en-US" altLang="ko-KR" dirty="0"/>
                        <a:t>LED Y1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7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958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684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840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4A1AF-AD41-4C09-B41B-8593C4DC0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 : </a:t>
            </a:r>
            <a:r>
              <a:rPr lang="ko-KR" altLang="en-US" dirty="0"/>
              <a:t>가상회로</a:t>
            </a:r>
            <a:r>
              <a:rPr lang="en-US" altLang="ko-KR" dirty="0"/>
              <a:t>, </a:t>
            </a:r>
            <a:r>
              <a:rPr lang="en-US" altLang="ko-KR" dirty="0" err="1"/>
              <a:t>fpga</a:t>
            </a:r>
            <a:r>
              <a:rPr lang="en-US" altLang="ko-KR" dirty="0"/>
              <a:t> </a:t>
            </a:r>
            <a:r>
              <a:rPr lang="ko-KR" altLang="en-US" dirty="0"/>
              <a:t>회로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5EAA9E4-7848-4DF8-A65B-3A7E2190A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7958"/>
            <a:ext cx="10401655" cy="452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448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4A1AF-AD41-4C09-B41B-8593C4DC0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 : </a:t>
            </a:r>
            <a:r>
              <a:rPr lang="ko-KR" altLang="en-US" dirty="0"/>
              <a:t>시뮬레이션 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74CA91-088B-4371-A1A8-A712E1BE84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35946"/>
            <a:ext cx="11053011" cy="440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812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4A1AF-AD41-4C09-B41B-8593C4DC0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2 : </a:t>
            </a:r>
            <a:r>
              <a:rPr lang="ko-KR" altLang="en-US" dirty="0" err="1"/>
              <a:t>동작표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4160B2C-F12C-4566-81C2-315BB1F38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672197"/>
              </p:ext>
            </p:extLst>
          </p:nvPr>
        </p:nvGraphicFramePr>
        <p:xfrm>
          <a:off x="949568" y="1475803"/>
          <a:ext cx="10770576" cy="4942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282">
                  <a:extLst>
                    <a:ext uri="{9D8B030D-6E8A-4147-A177-3AD203B41FA5}">
                      <a16:colId xmlns:a16="http://schemas.microsoft.com/office/drawing/2014/main" val="4096629074"/>
                    </a:ext>
                  </a:extLst>
                </a:gridCol>
                <a:gridCol w="1528549">
                  <a:extLst>
                    <a:ext uri="{9D8B030D-6E8A-4147-A177-3AD203B41FA5}">
                      <a16:colId xmlns:a16="http://schemas.microsoft.com/office/drawing/2014/main" val="3577412701"/>
                    </a:ext>
                  </a:extLst>
                </a:gridCol>
                <a:gridCol w="1528549">
                  <a:extLst>
                    <a:ext uri="{9D8B030D-6E8A-4147-A177-3AD203B41FA5}">
                      <a16:colId xmlns:a16="http://schemas.microsoft.com/office/drawing/2014/main" val="2231565276"/>
                    </a:ext>
                  </a:extLst>
                </a:gridCol>
                <a:gridCol w="1528549">
                  <a:extLst>
                    <a:ext uri="{9D8B030D-6E8A-4147-A177-3AD203B41FA5}">
                      <a16:colId xmlns:a16="http://schemas.microsoft.com/office/drawing/2014/main" val="2284098656"/>
                    </a:ext>
                  </a:extLst>
                </a:gridCol>
                <a:gridCol w="1528549">
                  <a:extLst>
                    <a:ext uri="{9D8B030D-6E8A-4147-A177-3AD203B41FA5}">
                      <a16:colId xmlns:a16="http://schemas.microsoft.com/office/drawing/2014/main" val="2984460784"/>
                    </a:ext>
                  </a:extLst>
                </a:gridCol>
                <a:gridCol w="1528549">
                  <a:extLst>
                    <a:ext uri="{9D8B030D-6E8A-4147-A177-3AD203B41FA5}">
                      <a16:colId xmlns:a16="http://schemas.microsoft.com/office/drawing/2014/main" val="1395978441"/>
                    </a:ext>
                  </a:extLst>
                </a:gridCol>
                <a:gridCol w="1528549">
                  <a:extLst>
                    <a:ext uri="{9D8B030D-6E8A-4147-A177-3AD203B41FA5}">
                      <a16:colId xmlns:a16="http://schemas.microsoft.com/office/drawing/2014/main" val="1253588540"/>
                    </a:ext>
                  </a:extLst>
                </a:gridCol>
              </a:tblGrid>
              <a:tr h="496298"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input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output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462918"/>
                  </a:ext>
                </a:extLst>
              </a:tr>
              <a:tr h="4962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511767"/>
                  </a:ext>
                </a:extLst>
              </a:tr>
              <a:tr h="4962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347321"/>
                  </a:ext>
                </a:extLst>
              </a:tr>
              <a:tr h="4962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403619"/>
                  </a:ext>
                </a:extLst>
              </a:tr>
              <a:tr h="4962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335681"/>
                  </a:ext>
                </a:extLst>
              </a:tr>
              <a:tr h="4962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577155"/>
                  </a:ext>
                </a:extLst>
              </a:tr>
              <a:tr h="4962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44823"/>
                  </a:ext>
                </a:extLst>
              </a:tr>
              <a:tr h="4894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826987"/>
                  </a:ext>
                </a:extLst>
              </a:tr>
              <a:tr h="4894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687400"/>
                  </a:ext>
                </a:extLst>
              </a:tr>
              <a:tr h="4894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191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1403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4A1AF-AD41-4C09-B41B-8593C4DC0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2 : </a:t>
            </a:r>
            <a:r>
              <a:rPr lang="ko-KR" altLang="en-US" dirty="0"/>
              <a:t>가상회로</a:t>
            </a:r>
            <a:r>
              <a:rPr lang="en-US" altLang="ko-KR" dirty="0"/>
              <a:t>, </a:t>
            </a:r>
            <a:r>
              <a:rPr lang="en-US" altLang="ko-KR" dirty="0" err="1"/>
              <a:t>fpga</a:t>
            </a:r>
            <a:r>
              <a:rPr lang="en-US" altLang="ko-KR" dirty="0"/>
              <a:t> </a:t>
            </a:r>
            <a:r>
              <a:rPr lang="ko-KR" altLang="en-US" dirty="0"/>
              <a:t>회로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7C83F7-7094-4B64-8415-3894631D7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02" y="1565031"/>
            <a:ext cx="11512996" cy="500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259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4A1AF-AD41-4C09-B41B-8593C4DC0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2 : </a:t>
            </a:r>
            <a:r>
              <a:rPr lang="ko-KR" altLang="en-US" dirty="0"/>
              <a:t>시뮬레이션 화면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5560FF8-A52C-4610-8D46-75213BABB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14" y="1363081"/>
            <a:ext cx="10609385" cy="531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104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4A1AF-AD41-4C09-B41B-8593C4DC0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1 : </a:t>
            </a:r>
            <a:r>
              <a:rPr lang="ko-KR" altLang="en-US" dirty="0" err="1"/>
              <a:t>동작표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F3B7E3A-3332-4D58-AAE7-614CA71027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224469"/>
              </p:ext>
            </p:extLst>
          </p:nvPr>
        </p:nvGraphicFramePr>
        <p:xfrm>
          <a:off x="949568" y="1475803"/>
          <a:ext cx="5146432" cy="4942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32">
                  <a:extLst>
                    <a:ext uri="{9D8B030D-6E8A-4147-A177-3AD203B41FA5}">
                      <a16:colId xmlns:a16="http://schemas.microsoft.com/office/drawing/2014/main" val="4096629074"/>
                    </a:ext>
                  </a:extLst>
                </a:gridCol>
                <a:gridCol w="1266092">
                  <a:extLst>
                    <a:ext uri="{9D8B030D-6E8A-4147-A177-3AD203B41FA5}">
                      <a16:colId xmlns:a16="http://schemas.microsoft.com/office/drawing/2014/main" val="3577412701"/>
                    </a:ext>
                  </a:extLst>
                </a:gridCol>
                <a:gridCol w="1342880">
                  <a:extLst>
                    <a:ext uri="{9D8B030D-6E8A-4147-A177-3AD203B41FA5}">
                      <a16:colId xmlns:a16="http://schemas.microsoft.com/office/drawing/2014/main" val="2231565276"/>
                    </a:ext>
                  </a:extLst>
                </a:gridCol>
                <a:gridCol w="1335648">
                  <a:extLst>
                    <a:ext uri="{9D8B030D-6E8A-4147-A177-3AD203B41FA5}">
                      <a16:colId xmlns:a16="http://schemas.microsoft.com/office/drawing/2014/main" val="22840986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84460784"/>
                    </a:ext>
                  </a:extLst>
                </a:gridCol>
              </a:tblGrid>
              <a:tr h="496298"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input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output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462918"/>
                  </a:ext>
                </a:extLst>
              </a:tr>
              <a:tr h="4962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y0</a:t>
                      </a:r>
                      <a:endParaRPr lang="ko-KR" altLang="en-US" dirty="0"/>
                    </a:p>
                  </a:txBody>
                  <a:tcPr/>
                </a:tc>
                <a:tc rowSpan="9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511767"/>
                  </a:ext>
                </a:extLst>
              </a:tr>
              <a:tr h="4962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347321"/>
                  </a:ext>
                </a:extLst>
              </a:tr>
              <a:tr h="4962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403619"/>
                  </a:ext>
                </a:extLst>
              </a:tr>
              <a:tr h="4962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335681"/>
                  </a:ext>
                </a:extLst>
              </a:tr>
              <a:tr h="4962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577155"/>
                  </a:ext>
                </a:extLst>
              </a:tr>
              <a:tr h="4962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44823"/>
                  </a:ext>
                </a:extLst>
              </a:tr>
              <a:tr h="4894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826987"/>
                  </a:ext>
                </a:extLst>
              </a:tr>
              <a:tr h="4894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687400"/>
                  </a:ext>
                </a:extLst>
              </a:tr>
              <a:tr h="4894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191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4173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4A1AF-AD41-4C09-B41B-8593C4DC0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1 : </a:t>
            </a:r>
            <a:r>
              <a:rPr lang="ko-KR" altLang="en-US" dirty="0"/>
              <a:t>가상회로</a:t>
            </a:r>
            <a:r>
              <a:rPr lang="en-US" altLang="ko-KR" dirty="0"/>
              <a:t>, </a:t>
            </a:r>
            <a:r>
              <a:rPr lang="en-US" altLang="ko-KR" dirty="0" err="1"/>
              <a:t>fpga</a:t>
            </a:r>
            <a:r>
              <a:rPr lang="en-US" altLang="ko-KR" dirty="0"/>
              <a:t> </a:t>
            </a:r>
            <a:r>
              <a:rPr lang="ko-KR" altLang="en-US" dirty="0"/>
              <a:t>회로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6CDB737-DA6E-41B7-843A-DD3F47A7A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17340"/>
            <a:ext cx="9404838" cy="489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555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4A1AF-AD41-4C09-B41B-8593C4DC0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1 : </a:t>
            </a:r>
            <a:r>
              <a:rPr lang="ko-KR" altLang="en-US" dirty="0"/>
              <a:t>시뮬레이션 화면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23F0137-184E-47D9-8F3E-B6FF946BA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52312"/>
            <a:ext cx="10670931" cy="465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943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4A1AF-AD41-4C09-B41B-8593C4DC0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015"/>
            <a:ext cx="10515600" cy="703498"/>
          </a:xfrm>
        </p:spPr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2 : </a:t>
            </a:r>
            <a:r>
              <a:rPr lang="ko-KR" altLang="en-US" dirty="0" err="1"/>
              <a:t>동작표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FAB42FF-7E3F-4C2F-B625-E3AB18EC5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400149"/>
              </p:ext>
            </p:extLst>
          </p:nvPr>
        </p:nvGraphicFramePr>
        <p:xfrm>
          <a:off x="1003788" y="888249"/>
          <a:ext cx="10184424" cy="586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2366">
                  <a:extLst>
                    <a:ext uri="{9D8B030D-6E8A-4147-A177-3AD203B41FA5}">
                      <a16:colId xmlns:a16="http://schemas.microsoft.com/office/drawing/2014/main" val="4096629074"/>
                    </a:ext>
                  </a:extLst>
                </a:gridCol>
                <a:gridCol w="1005971">
                  <a:extLst>
                    <a:ext uri="{9D8B030D-6E8A-4147-A177-3AD203B41FA5}">
                      <a16:colId xmlns:a16="http://schemas.microsoft.com/office/drawing/2014/main" val="3577412701"/>
                    </a:ext>
                  </a:extLst>
                </a:gridCol>
                <a:gridCol w="1147306">
                  <a:extLst>
                    <a:ext uri="{9D8B030D-6E8A-4147-A177-3AD203B41FA5}">
                      <a16:colId xmlns:a16="http://schemas.microsoft.com/office/drawing/2014/main" val="2231565276"/>
                    </a:ext>
                  </a:extLst>
                </a:gridCol>
                <a:gridCol w="1127329">
                  <a:extLst>
                    <a:ext uri="{9D8B030D-6E8A-4147-A177-3AD203B41FA5}">
                      <a16:colId xmlns:a16="http://schemas.microsoft.com/office/drawing/2014/main" val="472541896"/>
                    </a:ext>
                  </a:extLst>
                </a:gridCol>
                <a:gridCol w="1445363">
                  <a:extLst>
                    <a:ext uri="{9D8B030D-6E8A-4147-A177-3AD203B41FA5}">
                      <a16:colId xmlns:a16="http://schemas.microsoft.com/office/drawing/2014/main" val="2284098656"/>
                    </a:ext>
                  </a:extLst>
                </a:gridCol>
                <a:gridCol w="1445363">
                  <a:extLst>
                    <a:ext uri="{9D8B030D-6E8A-4147-A177-3AD203B41FA5}">
                      <a16:colId xmlns:a16="http://schemas.microsoft.com/office/drawing/2014/main" val="2984460784"/>
                    </a:ext>
                  </a:extLst>
                </a:gridCol>
                <a:gridCol w="1445363">
                  <a:extLst>
                    <a:ext uri="{9D8B030D-6E8A-4147-A177-3AD203B41FA5}">
                      <a16:colId xmlns:a16="http://schemas.microsoft.com/office/drawing/2014/main" val="1395978441"/>
                    </a:ext>
                  </a:extLst>
                </a:gridCol>
                <a:gridCol w="1445363">
                  <a:extLst>
                    <a:ext uri="{9D8B030D-6E8A-4147-A177-3AD203B41FA5}">
                      <a16:colId xmlns:a16="http://schemas.microsoft.com/office/drawing/2014/main" val="1253588540"/>
                    </a:ext>
                  </a:extLst>
                </a:gridCol>
              </a:tblGrid>
              <a:tr h="368680"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input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output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462918"/>
                  </a:ext>
                </a:extLst>
              </a:tr>
              <a:tr h="2993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511767"/>
                  </a:ext>
                </a:extLst>
              </a:tr>
              <a:tr h="3686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347321"/>
                  </a:ext>
                </a:extLst>
              </a:tr>
              <a:tr h="3686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403619"/>
                  </a:ext>
                </a:extLst>
              </a:tr>
              <a:tr h="3686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335681"/>
                  </a:ext>
                </a:extLst>
              </a:tr>
              <a:tr h="3686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577155"/>
                  </a:ext>
                </a:extLst>
              </a:tr>
              <a:tr h="3686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4482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826987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687400"/>
                  </a:ext>
                </a:extLst>
              </a:tr>
              <a:tr h="333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191070"/>
                  </a:ext>
                </a:extLst>
              </a:tr>
              <a:tr h="333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1976049"/>
                  </a:ext>
                </a:extLst>
              </a:tr>
              <a:tr h="333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872935"/>
                  </a:ext>
                </a:extLst>
              </a:tr>
              <a:tr h="333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410372"/>
                  </a:ext>
                </a:extLst>
              </a:tr>
              <a:tr h="333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842798"/>
                  </a:ext>
                </a:extLst>
              </a:tr>
              <a:tr h="333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171884"/>
                  </a:ext>
                </a:extLst>
              </a:tr>
              <a:tr h="333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764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7461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4A1AF-AD41-4C09-B41B-8593C4DC0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2 : </a:t>
            </a:r>
            <a:r>
              <a:rPr lang="ko-KR" altLang="en-US" dirty="0"/>
              <a:t>가상회로</a:t>
            </a:r>
            <a:r>
              <a:rPr lang="en-US" altLang="ko-KR" dirty="0"/>
              <a:t>, </a:t>
            </a:r>
            <a:r>
              <a:rPr lang="en-US" altLang="ko-KR" dirty="0" err="1"/>
              <a:t>fpga</a:t>
            </a:r>
            <a:r>
              <a:rPr lang="en-US" altLang="ko-KR" dirty="0"/>
              <a:t> </a:t>
            </a:r>
            <a:r>
              <a:rPr lang="ko-KR" altLang="en-US" dirty="0"/>
              <a:t>회로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7B3EE71-36B2-4D8E-931E-78E31A8C2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45961"/>
            <a:ext cx="8731127" cy="525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26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4A1AF-AD41-4C09-B41B-8593C4DC0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2 : </a:t>
            </a:r>
            <a:r>
              <a:rPr lang="ko-KR" altLang="en-US" dirty="0"/>
              <a:t>시뮬레이션 화면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1C7BD63-81C5-492A-9A12-8C89670F79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08" y="1290950"/>
            <a:ext cx="10515600" cy="510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72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365</Words>
  <Application>Microsoft Office PowerPoint</Application>
  <PresentationFormat>와이드스크린</PresentationFormat>
  <Paragraphs>290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Week6 </vt:lpstr>
      <vt:lpstr>실습 1 : 동작표</vt:lpstr>
      <vt:lpstr>실습 1 : 가상회로, fpga 회로</vt:lpstr>
      <vt:lpstr>실습 1 : 시뮬레이션 화면</vt:lpstr>
      <vt:lpstr>실습 2 : 동작표</vt:lpstr>
      <vt:lpstr>실습 2 : 가상회로, fpga 회로</vt:lpstr>
      <vt:lpstr>실습 2 : 시뮬레이션 화면</vt:lpstr>
      <vt:lpstr>과제 1 : 동작표</vt:lpstr>
      <vt:lpstr>과제 1 : 가상회로, fpga 회로</vt:lpstr>
      <vt:lpstr>과제 1 : 시뮬레이션 화면</vt:lpstr>
      <vt:lpstr>과제 2 : 동작표</vt:lpstr>
      <vt:lpstr>과제 2 : 가상회로, fpga 회로</vt:lpstr>
      <vt:lpstr>과제 2 : 시뮬레이션 화면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13</cp:revision>
  <dcterms:created xsi:type="dcterms:W3CDTF">2024-04-08T05:08:57Z</dcterms:created>
  <dcterms:modified xsi:type="dcterms:W3CDTF">2024-04-08T08:17:58Z</dcterms:modified>
</cp:coreProperties>
</file>