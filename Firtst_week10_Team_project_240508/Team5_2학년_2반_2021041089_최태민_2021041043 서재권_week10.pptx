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69" r:id="rId6"/>
    <p:sldId id="270" r:id="rId7"/>
    <p:sldId id="262" r:id="rId8"/>
    <p:sldId id="275" r:id="rId9"/>
    <p:sldId id="276" r:id="rId10"/>
    <p:sldId id="277" r:id="rId11"/>
    <p:sldId id="278" r:id="rId12"/>
    <p:sldId id="279" r:id="rId13"/>
    <p:sldId id="271" r:id="rId14"/>
    <p:sldId id="272" r:id="rId15"/>
    <p:sldId id="273" r:id="rId16"/>
    <p:sldId id="274" r:id="rId17"/>
    <p:sldId id="266" r:id="rId18"/>
    <p:sldId id="267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BC5C00-E5CC-7595-AF5D-293D2D978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D4FD004-2686-3748-98D7-8B6EF2928D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8FAF2F-18E7-2205-110E-A9BEE8869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E283E-563E-4D6F-99FB-9717EA4319D7}" type="datetimeFigureOut">
              <a:rPr lang="ko-KR" altLang="en-US" smtClean="0"/>
              <a:t>2024-05-08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96A978-281B-70F9-9537-F2A79DBF1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A9F392-4884-6275-E216-5D7C95021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A5F08-9B67-4791-BDF8-6030EA8A8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624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D1B09A-EA8E-12A1-B258-8AF9B0C12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3084B5-A1A0-C076-E9E8-566EB2C77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95A36D-BFF6-96FB-3418-D512F8861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E283E-563E-4D6F-99FB-9717EA4319D7}" type="datetimeFigureOut">
              <a:rPr lang="ko-KR" altLang="en-US" smtClean="0"/>
              <a:t>2024-05-08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68E819-0D6D-7F44-3341-DD981B183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40E19E-8D16-471F-3070-3E39D84D8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A5F08-9B67-4791-BDF8-6030EA8A8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08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F5F71-F358-AD30-B5E2-1CAC6BF1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96948F-F7E4-5990-D682-CE51096C5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F4422E-037E-1630-105A-27BFE9048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E283E-563E-4D6F-99FB-9717EA4319D7}" type="datetimeFigureOut">
              <a:rPr lang="ko-KR" altLang="en-US" smtClean="0"/>
              <a:t>2024-05-08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010483-87D1-5D4D-08C3-47BBDE36F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B41FD7-662F-D5B8-EEBB-58289CBD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A5F08-9B67-4791-BDF8-6030EA8A8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467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9C718A-69F0-D125-EF8F-6852DE3F1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377BB6-408B-D417-BA9A-F278F9835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DBC5F4-6CC0-CD16-D51E-83C7ADB5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C81825-DBD9-EF8A-BF8E-B7EB01679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E283E-563E-4D6F-99FB-9717EA4319D7}" type="datetimeFigureOut">
              <a:rPr lang="ko-KR" altLang="en-US" smtClean="0"/>
              <a:t>2024-05-08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355EF8-23B1-FADA-D702-1EF654B60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1B3C99-97E4-E099-4C72-4DDF8CD4F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A5F08-9B67-4791-BDF8-6030EA8A8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433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9F9FB2-FC02-37D8-59F8-2576E09AA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3F536D-A47B-AE26-62EC-221595EE9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6FC9C2-EA9C-97CC-BEC2-092C8DB45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8EE097F-A786-995A-E6B7-EC540F0C11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FC0AF22-AF44-A0C3-0F14-088E0CFE5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C9A6FDE-78B9-B47F-A035-E811E5D51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E283E-563E-4D6F-99FB-9717EA4319D7}" type="datetimeFigureOut">
              <a:rPr lang="ko-KR" altLang="en-US" smtClean="0"/>
              <a:t>2024-05-08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399EC6F-5872-7FB9-2B53-0EEF30B4F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CDEF485-2A4D-BCBE-495D-47D09E234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A5F08-9B67-4791-BDF8-6030EA8A8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776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EBC728-2B93-DCCE-1234-41184B8D7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7224896-7BA6-579A-FA4C-C12D1CBA0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E283E-563E-4D6F-99FB-9717EA4319D7}" type="datetimeFigureOut">
              <a:rPr lang="ko-KR" altLang="en-US" smtClean="0"/>
              <a:t>2024-05-08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F93C403-8EC3-B5C2-F114-2BD31E815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7E6263-DC82-07B3-9FCB-9F5BF06B0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A5F08-9B67-4791-BDF8-6030EA8A8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106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C3ED3D-1A94-F55F-F845-FF600A666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E283E-563E-4D6F-99FB-9717EA4319D7}" type="datetimeFigureOut">
              <a:rPr lang="ko-KR" altLang="en-US" smtClean="0"/>
              <a:t>2024-05-08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2F4FE92-DECA-D766-448D-3FB0508B7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67AFCC-BF8E-BF5B-0D98-92E76035A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A5F08-9B67-4791-BDF8-6030EA8A8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463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3E6FAD-A510-E62A-ADD6-E4ABC6B91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DEA00C-2EF4-9C34-075B-94EBE00E1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F2DE02-9028-53E6-264E-372690C01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485F3C-BC0F-4797-9CBE-73046D04C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E283E-563E-4D6F-99FB-9717EA4319D7}" type="datetimeFigureOut">
              <a:rPr lang="ko-KR" altLang="en-US" smtClean="0"/>
              <a:t>2024-05-08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96AF4A-A72A-2EDD-F910-218400E26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5EA203-2855-44B6-9E0A-6011F270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A5F08-9B67-4791-BDF8-6030EA8A8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998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E40216-2EC1-34C6-1E80-3E387CDEB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79CE25-9E00-DD39-E007-B5A321A9A3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C56896-98FD-DA06-873C-319F3B0F4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7F0F4D-B871-5AB7-8410-D45ED5FF1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E283E-563E-4D6F-99FB-9717EA4319D7}" type="datetimeFigureOut">
              <a:rPr lang="ko-KR" altLang="en-US" smtClean="0"/>
              <a:t>2024-05-08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1456A9-F01B-C6A8-7676-164014A65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7FE907-63C4-5968-1451-D7BA5E977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A5F08-9B67-4791-BDF8-6030EA8A8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627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C2AE6C-8371-CBAF-B4DC-2792A515F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3B7814-C97A-EB18-7A43-625048956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0491F6-3A03-2663-C5B7-33F419EBA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E283E-563E-4D6F-99FB-9717EA4319D7}" type="datetimeFigureOut">
              <a:rPr lang="ko-KR" altLang="en-US" smtClean="0"/>
              <a:t>2024-05-08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941CA7-B54D-1C67-DC58-41639C7D2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A90626-E597-C8D9-2B73-6AA7CDB47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A5F08-9B67-4791-BDF8-6030EA8A8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621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FFE6883-27B6-3B16-FC20-69B791C9C3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80F5D2-3356-4A9A-208E-69BF84E69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FBA457-3F8D-8481-C36E-9E9C2E5B0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E283E-563E-4D6F-99FB-9717EA4319D7}" type="datetimeFigureOut">
              <a:rPr lang="ko-KR" altLang="en-US" smtClean="0"/>
              <a:t>2024-05-08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41E783-AE20-C3A0-32E0-456BD66DC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E572F8-235F-D05B-046A-0584AE104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A5F08-9B67-4791-BDF8-6030EA8A8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712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EA5A84D-F80D-8E5A-4615-D5D50EFDE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7E203B-AA83-9BD5-63A3-CAB7DAE16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4B6051-36D4-6DE5-7CBB-CB46FC9FCE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E283E-563E-4D6F-99FB-9717EA4319D7}" type="datetimeFigureOut">
              <a:rPr lang="ko-KR" altLang="en-US" smtClean="0"/>
              <a:t>2024-05-08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E7A1AC-744F-E32F-CA51-9DC4933D7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A1BEC3-B6D1-18BA-6BB6-48BB92B28B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A5F08-9B67-4791-BDF8-6030EA8A8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39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7FF588-6F78-4B9F-E83A-CA383406F0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Week10 team</a:t>
            </a:r>
            <a:r>
              <a:rPr lang="ko-KR" altLang="en-US" dirty="0"/>
              <a:t>과제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34A439F-DFD1-85CF-BA78-393DDB727F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학년 </a:t>
            </a:r>
            <a:r>
              <a:rPr lang="en-US" altLang="ko-KR" dirty="0"/>
              <a:t>2</a:t>
            </a:r>
            <a:r>
              <a:rPr lang="ko-KR" altLang="en-US" dirty="0"/>
              <a:t>반 </a:t>
            </a:r>
            <a:r>
              <a:rPr lang="en-US" altLang="ko-KR" dirty="0"/>
              <a:t>2021041089 </a:t>
            </a:r>
            <a:r>
              <a:rPr lang="ko-KR" altLang="en-US" dirty="0"/>
              <a:t>최태민</a:t>
            </a:r>
            <a:r>
              <a:rPr lang="en-US" altLang="ko-KR" dirty="0"/>
              <a:t>. 2</a:t>
            </a:r>
            <a:r>
              <a:rPr lang="ko-KR" altLang="en-US" dirty="0"/>
              <a:t>학년 </a:t>
            </a:r>
            <a:r>
              <a:rPr lang="en-US" altLang="ko-KR" dirty="0"/>
              <a:t>2</a:t>
            </a:r>
            <a:r>
              <a:rPr lang="ko-KR" altLang="en-US" dirty="0"/>
              <a:t>반 </a:t>
            </a:r>
            <a:r>
              <a:rPr lang="en-US" altLang="ko-KR" dirty="0"/>
              <a:t>2021041043 </a:t>
            </a:r>
            <a:r>
              <a:rPr lang="ko-KR" altLang="en-US" dirty="0" err="1"/>
              <a:t>서재권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8612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66C66-5E55-F85F-F0D0-FB95D233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4483"/>
          </a:xfrm>
        </p:spPr>
        <p:txBody>
          <a:bodyPr/>
          <a:lstStyle/>
          <a:p>
            <a:r>
              <a:rPr lang="ko-KR" altLang="en-US" dirty="0"/>
              <a:t>문제 </a:t>
            </a:r>
            <a:r>
              <a:rPr lang="en-US" altLang="ko-KR" dirty="0"/>
              <a:t>2 : </a:t>
            </a:r>
            <a:r>
              <a:rPr lang="ko-KR" altLang="en-US" dirty="0"/>
              <a:t>동작테이블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BF08A3F-2954-C6C6-8E9C-16902AE30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950360"/>
              </p:ext>
            </p:extLst>
          </p:nvPr>
        </p:nvGraphicFramePr>
        <p:xfrm>
          <a:off x="718353" y="1075086"/>
          <a:ext cx="11151091" cy="600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474">
                  <a:extLst>
                    <a:ext uri="{9D8B030D-6E8A-4147-A177-3AD203B41FA5}">
                      <a16:colId xmlns:a16="http://schemas.microsoft.com/office/drawing/2014/main" val="1195691116"/>
                    </a:ext>
                  </a:extLst>
                </a:gridCol>
                <a:gridCol w="879165">
                  <a:extLst>
                    <a:ext uri="{9D8B030D-6E8A-4147-A177-3AD203B41FA5}">
                      <a16:colId xmlns:a16="http://schemas.microsoft.com/office/drawing/2014/main" val="2467857280"/>
                    </a:ext>
                  </a:extLst>
                </a:gridCol>
                <a:gridCol w="834271">
                  <a:extLst>
                    <a:ext uri="{9D8B030D-6E8A-4147-A177-3AD203B41FA5}">
                      <a16:colId xmlns:a16="http://schemas.microsoft.com/office/drawing/2014/main" val="2710049334"/>
                    </a:ext>
                  </a:extLst>
                </a:gridCol>
                <a:gridCol w="856718">
                  <a:extLst>
                    <a:ext uri="{9D8B030D-6E8A-4147-A177-3AD203B41FA5}">
                      <a16:colId xmlns:a16="http://schemas.microsoft.com/office/drawing/2014/main" val="2611320412"/>
                    </a:ext>
                  </a:extLst>
                </a:gridCol>
                <a:gridCol w="856718">
                  <a:extLst>
                    <a:ext uri="{9D8B030D-6E8A-4147-A177-3AD203B41FA5}">
                      <a16:colId xmlns:a16="http://schemas.microsoft.com/office/drawing/2014/main" val="2630910156"/>
                    </a:ext>
                  </a:extLst>
                </a:gridCol>
                <a:gridCol w="856718">
                  <a:extLst>
                    <a:ext uri="{9D8B030D-6E8A-4147-A177-3AD203B41FA5}">
                      <a16:colId xmlns:a16="http://schemas.microsoft.com/office/drawing/2014/main" val="3725884164"/>
                    </a:ext>
                  </a:extLst>
                </a:gridCol>
                <a:gridCol w="856718">
                  <a:extLst>
                    <a:ext uri="{9D8B030D-6E8A-4147-A177-3AD203B41FA5}">
                      <a16:colId xmlns:a16="http://schemas.microsoft.com/office/drawing/2014/main" val="2299851281"/>
                    </a:ext>
                  </a:extLst>
                </a:gridCol>
                <a:gridCol w="856718">
                  <a:extLst>
                    <a:ext uri="{9D8B030D-6E8A-4147-A177-3AD203B41FA5}">
                      <a16:colId xmlns:a16="http://schemas.microsoft.com/office/drawing/2014/main" val="1109313306"/>
                    </a:ext>
                  </a:extLst>
                </a:gridCol>
                <a:gridCol w="856718">
                  <a:extLst>
                    <a:ext uri="{9D8B030D-6E8A-4147-A177-3AD203B41FA5}">
                      <a16:colId xmlns:a16="http://schemas.microsoft.com/office/drawing/2014/main" val="1295136055"/>
                    </a:ext>
                  </a:extLst>
                </a:gridCol>
                <a:gridCol w="856718">
                  <a:extLst>
                    <a:ext uri="{9D8B030D-6E8A-4147-A177-3AD203B41FA5}">
                      <a16:colId xmlns:a16="http://schemas.microsoft.com/office/drawing/2014/main" val="775258111"/>
                    </a:ext>
                  </a:extLst>
                </a:gridCol>
                <a:gridCol w="856718">
                  <a:extLst>
                    <a:ext uri="{9D8B030D-6E8A-4147-A177-3AD203B41FA5}">
                      <a16:colId xmlns:a16="http://schemas.microsoft.com/office/drawing/2014/main" val="2347589145"/>
                    </a:ext>
                  </a:extLst>
                </a:gridCol>
                <a:gridCol w="820635">
                  <a:extLst>
                    <a:ext uri="{9D8B030D-6E8A-4147-A177-3AD203B41FA5}">
                      <a16:colId xmlns:a16="http://schemas.microsoft.com/office/drawing/2014/main" val="2591877841"/>
                    </a:ext>
                  </a:extLst>
                </a:gridCol>
                <a:gridCol w="892802">
                  <a:extLst>
                    <a:ext uri="{9D8B030D-6E8A-4147-A177-3AD203B41FA5}">
                      <a16:colId xmlns:a16="http://schemas.microsoft.com/office/drawing/2014/main" val="3512545498"/>
                    </a:ext>
                  </a:extLst>
                </a:gridCol>
              </a:tblGrid>
              <a:tr h="55220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X3</a:t>
                      </a:r>
                    </a:p>
                    <a:p>
                      <a:pPr latinLnBrk="1"/>
                      <a:r>
                        <a:rPr lang="ko-KR" altLang="en-US" sz="1600" dirty="0"/>
                        <a:t>스위치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X2</a:t>
                      </a:r>
                    </a:p>
                    <a:p>
                      <a:pPr latinLnBrk="1"/>
                      <a:r>
                        <a:rPr lang="ko-KR" altLang="en-US" sz="1600" dirty="0"/>
                        <a:t>스위치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X1</a:t>
                      </a:r>
                    </a:p>
                    <a:p>
                      <a:pPr latinLnBrk="1"/>
                      <a:r>
                        <a:rPr lang="ko-KR" altLang="en-US" sz="1600" dirty="0"/>
                        <a:t>스위치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X0</a:t>
                      </a:r>
                    </a:p>
                    <a:p>
                      <a:pPr latinLnBrk="1"/>
                      <a:r>
                        <a:rPr lang="ko-KR" altLang="en-US" sz="1600" dirty="0"/>
                        <a:t>스위치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D3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LED K3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LED K2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LED K1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LED K0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477171"/>
                  </a:ext>
                </a:extLst>
              </a:tr>
              <a:tr h="3155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555349"/>
                  </a:ext>
                </a:extLst>
              </a:tr>
              <a:tr h="3155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310913"/>
                  </a:ext>
                </a:extLst>
              </a:tr>
              <a:tr h="3155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37263"/>
                  </a:ext>
                </a:extLst>
              </a:tr>
              <a:tr h="3155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161372"/>
                  </a:ext>
                </a:extLst>
              </a:tr>
              <a:tr h="3155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864423"/>
                  </a:ext>
                </a:extLst>
              </a:tr>
              <a:tr h="3155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029648"/>
                  </a:ext>
                </a:extLst>
              </a:tr>
              <a:tr h="3155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405430"/>
                  </a:ext>
                </a:extLst>
              </a:tr>
              <a:tr h="3155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816906"/>
                  </a:ext>
                </a:extLst>
              </a:tr>
              <a:tr h="3155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345553"/>
                  </a:ext>
                </a:extLst>
              </a:tr>
              <a:tr h="3155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107099"/>
                  </a:ext>
                </a:extLst>
              </a:tr>
              <a:tr h="3155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419223"/>
                  </a:ext>
                </a:extLst>
              </a:tr>
              <a:tr h="3155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496046"/>
                  </a:ext>
                </a:extLst>
              </a:tr>
              <a:tr h="3155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621844"/>
                  </a:ext>
                </a:extLst>
              </a:tr>
              <a:tr h="3155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969381"/>
                  </a:ext>
                </a:extLst>
              </a:tr>
              <a:tr h="3155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419077"/>
                  </a:ext>
                </a:extLst>
              </a:tr>
              <a:tr h="3155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282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247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66C66-5E55-F85F-F0D0-FB95D233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1" y="365125"/>
            <a:ext cx="11292395" cy="1325563"/>
          </a:xfrm>
        </p:spPr>
        <p:txBody>
          <a:bodyPr/>
          <a:lstStyle/>
          <a:p>
            <a:r>
              <a:rPr lang="ko-KR" altLang="en-US" dirty="0"/>
              <a:t>문제</a:t>
            </a:r>
            <a:r>
              <a:rPr lang="en-US" altLang="ko-KR" dirty="0"/>
              <a:t>2 </a:t>
            </a:r>
            <a:r>
              <a:rPr lang="ko-KR" altLang="en-US" dirty="0"/>
              <a:t>조건처리문</a:t>
            </a:r>
            <a:r>
              <a:rPr lang="en-US" altLang="ko-KR" dirty="0"/>
              <a:t>(case)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가상회로 및 </a:t>
            </a:r>
            <a:r>
              <a:rPr lang="en-US" altLang="ko-KR" dirty="0" err="1"/>
              <a:t>fpga</a:t>
            </a:r>
            <a:r>
              <a:rPr lang="ko-KR" altLang="en-US" dirty="0"/>
              <a:t>회로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47EC2CB-E15B-5302-BC05-C8442FEBA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73" y="1686461"/>
            <a:ext cx="11714453" cy="45315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216E16-0838-F407-471D-41982C6CBA6B}"/>
              </a:ext>
            </a:extLst>
          </p:cNvPr>
          <p:cNvSpPr txBox="1"/>
          <p:nvPr/>
        </p:nvSpPr>
        <p:spPr>
          <a:xfrm>
            <a:off x="9840341" y="3429000"/>
            <a:ext cx="2112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err="1">
                <a:highlight>
                  <a:srgbClr val="FFFF00"/>
                </a:highlight>
              </a:rPr>
              <a:t>Fpga</a:t>
            </a:r>
            <a:r>
              <a:rPr lang="en-US" altLang="ko-KR" sz="2800" dirty="0">
                <a:highlight>
                  <a:srgbClr val="FFFF00"/>
                </a:highlight>
              </a:rPr>
              <a:t> </a:t>
            </a:r>
            <a:r>
              <a:rPr lang="ko-KR" altLang="en-US" sz="2800" dirty="0">
                <a:highlight>
                  <a:srgbClr val="FFFF00"/>
                </a:highlight>
              </a:rPr>
              <a:t>회로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062CA8-80D3-4BFA-43D3-7A88D97BC01A}"/>
              </a:ext>
            </a:extLst>
          </p:cNvPr>
          <p:cNvSpPr txBox="1"/>
          <p:nvPr/>
        </p:nvSpPr>
        <p:spPr>
          <a:xfrm>
            <a:off x="1239358" y="2187606"/>
            <a:ext cx="2112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highlight>
                  <a:srgbClr val="FFFF00"/>
                </a:highlight>
              </a:rPr>
              <a:t>가상회로</a:t>
            </a:r>
          </a:p>
        </p:txBody>
      </p:sp>
    </p:spTree>
    <p:extLst>
      <p:ext uri="{BB962C8B-B14F-4D97-AF65-F5344CB8AC3E}">
        <p14:creationId xmlns:p14="http://schemas.microsoft.com/office/powerpoint/2010/main" val="307061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20BE6EE-5F23-BD0C-BF5D-36EFE165C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47" y="1944411"/>
            <a:ext cx="11292395" cy="422868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9066C66-5E55-F85F-F0D0-FB95D233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1" y="365125"/>
            <a:ext cx="11292395" cy="1325563"/>
          </a:xfrm>
        </p:spPr>
        <p:txBody>
          <a:bodyPr/>
          <a:lstStyle/>
          <a:p>
            <a:r>
              <a:rPr lang="ko-KR" altLang="en-US" dirty="0"/>
              <a:t>문제</a:t>
            </a:r>
            <a:r>
              <a:rPr lang="en-US" altLang="ko-KR" dirty="0"/>
              <a:t>2 </a:t>
            </a:r>
            <a:r>
              <a:rPr lang="ko-KR" altLang="en-US" dirty="0"/>
              <a:t>조건처리문</a:t>
            </a:r>
            <a:r>
              <a:rPr lang="en-US" altLang="ko-KR" dirty="0"/>
              <a:t>(</a:t>
            </a:r>
            <a:r>
              <a:rPr lang="en-US" altLang="ko-KR" dirty="0" err="1"/>
              <a:t>if~then~else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가상회로 및 </a:t>
            </a:r>
            <a:r>
              <a:rPr lang="en-US" altLang="ko-KR" dirty="0" err="1"/>
              <a:t>fpga</a:t>
            </a:r>
            <a:r>
              <a:rPr lang="ko-KR" altLang="en-US" dirty="0"/>
              <a:t>회로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216E16-0838-F407-471D-41982C6CBA6B}"/>
              </a:ext>
            </a:extLst>
          </p:cNvPr>
          <p:cNvSpPr txBox="1"/>
          <p:nvPr/>
        </p:nvSpPr>
        <p:spPr>
          <a:xfrm>
            <a:off x="7976030" y="1944411"/>
            <a:ext cx="2112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err="1">
                <a:highlight>
                  <a:srgbClr val="FFFF00"/>
                </a:highlight>
              </a:rPr>
              <a:t>Fpga</a:t>
            </a:r>
            <a:r>
              <a:rPr lang="en-US" altLang="ko-KR" sz="2800" dirty="0">
                <a:highlight>
                  <a:srgbClr val="FFFF00"/>
                </a:highlight>
              </a:rPr>
              <a:t> </a:t>
            </a:r>
            <a:r>
              <a:rPr lang="ko-KR" altLang="en-US" sz="2800" dirty="0">
                <a:highlight>
                  <a:srgbClr val="FFFF00"/>
                </a:highlight>
              </a:rPr>
              <a:t>회로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062CA8-80D3-4BFA-43D3-7A88D97BC01A}"/>
              </a:ext>
            </a:extLst>
          </p:cNvPr>
          <p:cNvSpPr txBox="1"/>
          <p:nvPr/>
        </p:nvSpPr>
        <p:spPr>
          <a:xfrm>
            <a:off x="2215901" y="2905780"/>
            <a:ext cx="2112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highlight>
                  <a:srgbClr val="FFFF00"/>
                </a:highlight>
              </a:rPr>
              <a:t>가상회로</a:t>
            </a:r>
          </a:p>
        </p:txBody>
      </p:sp>
    </p:spTree>
    <p:extLst>
      <p:ext uri="{BB962C8B-B14F-4D97-AF65-F5344CB8AC3E}">
        <p14:creationId xmlns:p14="http://schemas.microsoft.com/office/powerpoint/2010/main" val="697427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53FD171-68FE-2639-53EC-748D6D475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73" y="1907282"/>
            <a:ext cx="11402453" cy="413002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9066C66-5E55-F85F-F0D0-FB95D233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1" y="365125"/>
            <a:ext cx="11292395" cy="1325563"/>
          </a:xfrm>
        </p:spPr>
        <p:txBody>
          <a:bodyPr/>
          <a:lstStyle/>
          <a:p>
            <a:r>
              <a:rPr lang="ko-KR" altLang="en-US" dirty="0"/>
              <a:t>문제</a:t>
            </a:r>
            <a:r>
              <a:rPr lang="en-US" altLang="ko-KR" dirty="0"/>
              <a:t>2 </a:t>
            </a:r>
            <a:r>
              <a:rPr lang="ko-KR" altLang="en-US" dirty="0"/>
              <a:t>병행처리문</a:t>
            </a:r>
            <a:r>
              <a:rPr lang="en-US" altLang="ko-KR" dirty="0"/>
              <a:t>(</a:t>
            </a:r>
            <a:r>
              <a:rPr lang="en-US" altLang="ko-KR" dirty="0" err="1"/>
              <a:t>with~select~when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가상회로 및 </a:t>
            </a:r>
            <a:r>
              <a:rPr lang="en-US" altLang="ko-KR" dirty="0" err="1"/>
              <a:t>fpga</a:t>
            </a:r>
            <a:r>
              <a:rPr lang="ko-KR" altLang="en-US" dirty="0"/>
              <a:t>회로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216E16-0838-F407-471D-41982C6CBA6B}"/>
              </a:ext>
            </a:extLst>
          </p:cNvPr>
          <p:cNvSpPr txBox="1"/>
          <p:nvPr/>
        </p:nvSpPr>
        <p:spPr>
          <a:xfrm>
            <a:off x="8428792" y="1820123"/>
            <a:ext cx="2112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err="1">
                <a:highlight>
                  <a:srgbClr val="FFFF00"/>
                </a:highlight>
              </a:rPr>
              <a:t>Fpga</a:t>
            </a:r>
            <a:r>
              <a:rPr lang="en-US" altLang="ko-KR" sz="2800" dirty="0">
                <a:highlight>
                  <a:srgbClr val="FFFF00"/>
                </a:highlight>
              </a:rPr>
              <a:t> </a:t>
            </a:r>
            <a:r>
              <a:rPr lang="ko-KR" altLang="en-US" sz="2800" dirty="0">
                <a:highlight>
                  <a:srgbClr val="FFFF00"/>
                </a:highlight>
              </a:rPr>
              <a:t>회로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062CA8-80D3-4BFA-43D3-7A88D97BC01A}"/>
              </a:ext>
            </a:extLst>
          </p:cNvPr>
          <p:cNvSpPr txBox="1"/>
          <p:nvPr/>
        </p:nvSpPr>
        <p:spPr>
          <a:xfrm>
            <a:off x="4213377" y="3167390"/>
            <a:ext cx="2112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highlight>
                  <a:srgbClr val="FFFF00"/>
                </a:highlight>
              </a:rPr>
              <a:t>가상회로</a:t>
            </a:r>
          </a:p>
        </p:txBody>
      </p:sp>
    </p:spTree>
    <p:extLst>
      <p:ext uri="{BB962C8B-B14F-4D97-AF65-F5344CB8AC3E}">
        <p14:creationId xmlns:p14="http://schemas.microsoft.com/office/powerpoint/2010/main" val="723762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B5DD2CF-F31C-369E-3B0A-125EB84AB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77852"/>
            <a:ext cx="11467994" cy="395008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9066C66-5E55-F85F-F0D0-FB95D233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1" y="365125"/>
            <a:ext cx="11292395" cy="1325563"/>
          </a:xfrm>
        </p:spPr>
        <p:txBody>
          <a:bodyPr/>
          <a:lstStyle/>
          <a:p>
            <a:r>
              <a:rPr lang="ko-KR" altLang="en-US" dirty="0"/>
              <a:t>문제</a:t>
            </a:r>
            <a:r>
              <a:rPr lang="en-US" altLang="ko-KR" dirty="0"/>
              <a:t>2 </a:t>
            </a:r>
            <a:r>
              <a:rPr lang="ko-KR" altLang="en-US" dirty="0"/>
              <a:t>병행처리문</a:t>
            </a:r>
            <a:r>
              <a:rPr lang="en-US" altLang="ko-KR" dirty="0"/>
              <a:t>(</a:t>
            </a:r>
            <a:r>
              <a:rPr lang="en-US" altLang="ko-KR" dirty="0" err="1"/>
              <a:t>when~else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가상회로 및 </a:t>
            </a:r>
            <a:r>
              <a:rPr lang="en-US" altLang="ko-KR" dirty="0" err="1"/>
              <a:t>fpga</a:t>
            </a:r>
            <a:r>
              <a:rPr lang="ko-KR" altLang="en-US" dirty="0"/>
              <a:t>회로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216E16-0838-F407-471D-41982C6CBA6B}"/>
              </a:ext>
            </a:extLst>
          </p:cNvPr>
          <p:cNvSpPr txBox="1"/>
          <p:nvPr/>
        </p:nvSpPr>
        <p:spPr>
          <a:xfrm>
            <a:off x="8233483" y="1908899"/>
            <a:ext cx="2112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err="1">
                <a:highlight>
                  <a:srgbClr val="FFFF00"/>
                </a:highlight>
              </a:rPr>
              <a:t>Fpga</a:t>
            </a:r>
            <a:r>
              <a:rPr lang="en-US" altLang="ko-KR" sz="2800" dirty="0">
                <a:highlight>
                  <a:srgbClr val="FFFF00"/>
                </a:highlight>
              </a:rPr>
              <a:t> </a:t>
            </a:r>
            <a:r>
              <a:rPr lang="ko-KR" altLang="en-US" sz="2800" dirty="0">
                <a:highlight>
                  <a:srgbClr val="FFFF00"/>
                </a:highlight>
              </a:rPr>
              <a:t>회로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062CA8-80D3-4BFA-43D3-7A88D97BC01A}"/>
              </a:ext>
            </a:extLst>
          </p:cNvPr>
          <p:cNvSpPr txBox="1"/>
          <p:nvPr/>
        </p:nvSpPr>
        <p:spPr>
          <a:xfrm>
            <a:off x="2215901" y="2905780"/>
            <a:ext cx="2112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highlight>
                  <a:srgbClr val="FFFF00"/>
                </a:highlight>
              </a:rPr>
              <a:t>가상회로</a:t>
            </a:r>
          </a:p>
        </p:txBody>
      </p:sp>
    </p:spTree>
    <p:extLst>
      <p:ext uri="{BB962C8B-B14F-4D97-AF65-F5344CB8AC3E}">
        <p14:creationId xmlns:p14="http://schemas.microsoft.com/office/powerpoint/2010/main" val="1576582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66C66-5E55-F85F-F0D0-FB95D233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56037" cy="1325563"/>
          </a:xfrm>
        </p:spPr>
        <p:txBody>
          <a:bodyPr/>
          <a:lstStyle/>
          <a:p>
            <a:r>
              <a:rPr lang="ko-KR" altLang="en-US" dirty="0"/>
              <a:t>문제</a:t>
            </a:r>
            <a:r>
              <a:rPr lang="en-US" altLang="ko-KR" dirty="0"/>
              <a:t>2 : </a:t>
            </a:r>
            <a:r>
              <a:rPr lang="ko-KR" altLang="en-US" dirty="0"/>
              <a:t>실행화면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78F1D7-B3C6-C8AC-F4BD-C0B66D55C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05743"/>
            <a:ext cx="12192000" cy="204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528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66C66-5E55-F85F-F0D0-FB95D233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646" y="0"/>
            <a:ext cx="10515600" cy="762339"/>
          </a:xfrm>
        </p:spPr>
        <p:txBody>
          <a:bodyPr>
            <a:normAutofit/>
          </a:bodyPr>
          <a:lstStyle/>
          <a:p>
            <a:r>
              <a:rPr lang="ko-KR" altLang="en-US" sz="3200" dirty="0"/>
              <a:t>문제 </a:t>
            </a:r>
            <a:r>
              <a:rPr lang="en-US" altLang="ko-KR" sz="3200" dirty="0"/>
              <a:t>6 : </a:t>
            </a:r>
            <a:r>
              <a:rPr lang="ko-KR" altLang="en-US" sz="3200" dirty="0"/>
              <a:t>동작테이블 </a:t>
            </a:r>
            <a:r>
              <a:rPr lang="en-US" altLang="ko-KR" sz="3200" dirty="0"/>
              <a:t>(X9 </a:t>
            </a:r>
            <a:r>
              <a:rPr lang="ko-KR" altLang="en-US" sz="3200" dirty="0"/>
              <a:t>스위치와 </a:t>
            </a:r>
            <a:r>
              <a:rPr lang="en-US" altLang="ko-KR" sz="3200" dirty="0"/>
              <a:t>X8</a:t>
            </a:r>
            <a:r>
              <a:rPr lang="ko-KR" altLang="en-US" sz="3200" dirty="0"/>
              <a:t>의 스위치가 </a:t>
            </a:r>
            <a:r>
              <a:rPr lang="en-US" altLang="ko-KR" sz="3200" dirty="0"/>
              <a:t>0</a:t>
            </a:r>
            <a:r>
              <a:rPr lang="ko-KR" altLang="en-US" sz="3200" dirty="0"/>
              <a:t>일 때</a:t>
            </a:r>
            <a:r>
              <a:rPr lang="en-US" altLang="ko-KR" sz="3200" dirty="0"/>
              <a:t>)</a:t>
            </a:r>
            <a:endParaRPr lang="ko-KR" altLang="en-US" sz="32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33CACCB-B4C3-C744-ABCB-6BDF97711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839288"/>
              </p:ext>
            </p:extLst>
          </p:nvPr>
        </p:nvGraphicFramePr>
        <p:xfrm>
          <a:off x="328473" y="560181"/>
          <a:ext cx="11780668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620">
                  <a:extLst>
                    <a:ext uri="{9D8B030D-6E8A-4147-A177-3AD203B41FA5}">
                      <a16:colId xmlns:a16="http://schemas.microsoft.com/office/drawing/2014/main" val="1195691116"/>
                    </a:ext>
                  </a:extLst>
                </a:gridCol>
                <a:gridCol w="928802">
                  <a:extLst>
                    <a:ext uri="{9D8B030D-6E8A-4147-A177-3AD203B41FA5}">
                      <a16:colId xmlns:a16="http://schemas.microsoft.com/office/drawing/2014/main" val="2467857280"/>
                    </a:ext>
                  </a:extLst>
                </a:gridCol>
                <a:gridCol w="881373">
                  <a:extLst>
                    <a:ext uri="{9D8B030D-6E8A-4147-A177-3AD203B41FA5}">
                      <a16:colId xmlns:a16="http://schemas.microsoft.com/office/drawing/2014/main" val="2710049334"/>
                    </a:ext>
                  </a:extLst>
                </a:gridCol>
                <a:gridCol w="905087">
                  <a:extLst>
                    <a:ext uri="{9D8B030D-6E8A-4147-A177-3AD203B41FA5}">
                      <a16:colId xmlns:a16="http://schemas.microsoft.com/office/drawing/2014/main" val="2611320412"/>
                    </a:ext>
                  </a:extLst>
                </a:gridCol>
                <a:gridCol w="905087">
                  <a:extLst>
                    <a:ext uri="{9D8B030D-6E8A-4147-A177-3AD203B41FA5}">
                      <a16:colId xmlns:a16="http://schemas.microsoft.com/office/drawing/2014/main" val="2630910156"/>
                    </a:ext>
                  </a:extLst>
                </a:gridCol>
                <a:gridCol w="905087">
                  <a:extLst>
                    <a:ext uri="{9D8B030D-6E8A-4147-A177-3AD203B41FA5}">
                      <a16:colId xmlns:a16="http://schemas.microsoft.com/office/drawing/2014/main" val="3725884164"/>
                    </a:ext>
                  </a:extLst>
                </a:gridCol>
                <a:gridCol w="905087">
                  <a:extLst>
                    <a:ext uri="{9D8B030D-6E8A-4147-A177-3AD203B41FA5}">
                      <a16:colId xmlns:a16="http://schemas.microsoft.com/office/drawing/2014/main" val="2299851281"/>
                    </a:ext>
                  </a:extLst>
                </a:gridCol>
                <a:gridCol w="849647">
                  <a:extLst>
                    <a:ext uri="{9D8B030D-6E8A-4147-A177-3AD203B41FA5}">
                      <a16:colId xmlns:a16="http://schemas.microsoft.com/office/drawing/2014/main" val="1109313306"/>
                    </a:ext>
                  </a:extLst>
                </a:gridCol>
                <a:gridCol w="932155">
                  <a:extLst>
                    <a:ext uri="{9D8B030D-6E8A-4147-A177-3AD203B41FA5}">
                      <a16:colId xmlns:a16="http://schemas.microsoft.com/office/drawing/2014/main" val="1295136055"/>
                    </a:ext>
                  </a:extLst>
                </a:gridCol>
                <a:gridCol w="861134">
                  <a:extLst>
                    <a:ext uri="{9D8B030D-6E8A-4147-A177-3AD203B41FA5}">
                      <a16:colId xmlns:a16="http://schemas.microsoft.com/office/drawing/2014/main" val="775258111"/>
                    </a:ext>
                  </a:extLst>
                </a:gridCol>
                <a:gridCol w="585927">
                  <a:extLst>
                    <a:ext uri="{9D8B030D-6E8A-4147-A177-3AD203B41FA5}">
                      <a16:colId xmlns:a16="http://schemas.microsoft.com/office/drawing/2014/main" val="2347589145"/>
                    </a:ext>
                  </a:extLst>
                </a:gridCol>
                <a:gridCol w="656947">
                  <a:extLst>
                    <a:ext uri="{9D8B030D-6E8A-4147-A177-3AD203B41FA5}">
                      <a16:colId xmlns:a16="http://schemas.microsoft.com/office/drawing/2014/main" val="2591877841"/>
                    </a:ext>
                  </a:extLst>
                </a:gridCol>
                <a:gridCol w="745724">
                  <a:extLst>
                    <a:ext uri="{9D8B030D-6E8A-4147-A177-3AD203B41FA5}">
                      <a16:colId xmlns:a16="http://schemas.microsoft.com/office/drawing/2014/main" val="3512545498"/>
                    </a:ext>
                  </a:extLst>
                </a:gridCol>
                <a:gridCol w="798991">
                  <a:extLst>
                    <a:ext uri="{9D8B030D-6E8A-4147-A177-3AD203B41FA5}">
                      <a16:colId xmlns:a16="http://schemas.microsoft.com/office/drawing/2014/main" val="3931468253"/>
                    </a:ext>
                  </a:extLst>
                </a:gridCol>
              </a:tblGrid>
              <a:tr h="3757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X7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X6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X5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X4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X3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X2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X1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X0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X9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  <a:endParaRPr lang="en-US" altLang="ko-KR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X8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K3</a:t>
                      </a:r>
                    </a:p>
                    <a:p>
                      <a:pPr latinLnBrk="1"/>
                      <a:r>
                        <a:rPr lang="en-US" altLang="ko-KR" sz="1200" dirty="0"/>
                        <a:t>LED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K2</a:t>
                      </a:r>
                    </a:p>
                    <a:p>
                      <a:pPr latinLnBrk="1"/>
                      <a:r>
                        <a:rPr lang="en-US" altLang="ko-KR" sz="1200" dirty="0"/>
                        <a:t>LED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K1</a:t>
                      </a:r>
                    </a:p>
                    <a:p>
                      <a:pPr latinLnBrk="1"/>
                      <a:r>
                        <a:rPr lang="en-US" altLang="ko-KR" sz="1200" dirty="0"/>
                        <a:t>LED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K0</a:t>
                      </a:r>
                    </a:p>
                    <a:p>
                      <a:pPr latinLnBrk="1"/>
                      <a:r>
                        <a:rPr lang="en-US" altLang="ko-KR" sz="1200" dirty="0"/>
                        <a:t>LED</a:t>
                      </a:r>
                      <a:endParaRPr lang="ko-KR" alt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03477171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555349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0000">
                        <a:alpha val="3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310913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0000">
                        <a:alpha val="3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37263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0000">
                        <a:alpha val="3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161372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0000">
                        <a:alpha val="3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864423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0000">
                        <a:alpha val="3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029648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0000">
                        <a:alpha val="3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405430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0000">
                        <a:alpha val="3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816906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0000">
                        <a:alpha val="3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345553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0000">
                        <a:alpha val="3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107099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0000">
                        <a:alpha val="3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419223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0000">
                        <a:alpha val="3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96046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0000">
                        <a:alpha val="3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621844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0000">
                        <a:alpha val="3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969381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0000">
                        <a:alpha val="3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419077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0000">
                        <a:alpha val="3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282271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>
                        <a:alpha val="3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0000">
                        <a:alpha val="3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55949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X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825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8093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66C66-5E55-F85F-F0D0-FB95D233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646" y="0"/>
            <a:ext cx="10515600" cy="762339"/>
          </a:xfrm>
        </p:spPr>
        <p:txBody>
          <a:bodyPr>
            <a:normAutofit fontScale="90000"/>
          </a:bodyPr>
          <a:lstStyle/>
          <a:p>
            <a:r>
              <a:rPr lang="ko-KR" altLang="en-US" sz="3200" dirty="0"/>
              <a:t>문제 </a:t>
            </a:r>
            <a:r>
              <a:rPr lang="en-US" altLang="ko-KR" sz="3200" dirty="0"/>
              <a:t>6 : </a:t>
            </a:r>
            <a:r>
              <a:rPr lang="ko-KR" altLang="en-US" sz="3200" dirty="0"/>
              <a:t>동작테이블 </a:t>
            </a:r>
            <a:r>
              <a:rPr lang="en-US" altLang="ko-KR" sz="3200" dirty="0"/>
              <a:t>(X9 </a:t>
            </a:r>
            <a:r>
              <a:rPr lang="ko-KR" altLang="en-US" sz="3200" dirty="0"/>
              <a:t>스위치가 </a:t>
            </a:r>
            <a:r>
              <a:rPr lang="en-US" altLang="ko-KR" sz="3200" dirty="0"/>
              <a:t>0,</a:t>
            </a:r>
            <a:r>
              <a:rPr lang="ko-KR" altLang="en-US" sz="3200" dirty="0"/>
              <a:t> </a:t>
            </a:r>
            <a:r>
              <a:rPr lang="en-US" altLang="ko-KR" sz="3200" dirty="0"/>
              <a:t>X8</a:t>
            </a:r>
            <a:r>
              <a:rPr lang="ko-KR" altLang="en-US" sz="3200" dirty="0"/>
              <a:t>의 스위치가 </a:t>
            </a:r>
            <a:r>
              <a:rPr lang="en-US" altLang="ko-KR" sz="3200" dirty="0"/>
              <a:t>1</a:t>
            </a:r>
            <a:r>
              <a:rPr lang="ko-KR" altLang="en-US" sz="3200" dirty="0"/>
              <a:t>일 때</a:t>
            </a:r>
            <a:r>
              <a:rPr lang="en-US" altLang="ko-KR" sz="3200" dirty="0"/>
              <a:t>)</a:t>
            </a:r>
            <a:endParaRPr lang="ko-KR" altLang="en-US" sz="32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33CACCB-B4C3-C744-ABCB-6BDF97711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779828"/>
              </p:ext>
            </p:extLst>
          </p:nvPr>
        </p:nvGraphicFramePr>
        <p:xfrm>
          <a:off x="328473" y="560181"/>
          <a:ext cx="11780668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620">
                  <a:extLst>
                    <a:ext uri="{9D8B030D-6E8A-4147-A177-3AD203B41FA5}">
                      <a16:colId xmlns:a16="http://schemas.microsoft.com/office/drawing/2014/main" val="1195691116"/>
                    </a:ext>
                  </a:extLst>
                </a:gridCol>
                <a:gridCol w="928802">
                  <a:extLst>
                    <a:ext uri="{9D8B030D-6E8A-4147-A177-3AD203B41FA5}">
                      <a16:colId xmlns:a16="http://schemas.microsoft.com/office/drawing/2014/main" val="2467857280"/>
                    </a:ext>
                  </a:extLst>
                </a:gridCol>
                <a:gridCol w="881373">
                  <a:extLst>
                    <a:ext uri="{9D8B030D-6E8A-4147-A177-3AD203B41FA5}">
                      <a16:colId xmlns:a16="http://schemas.microsoft.com/office/drawing/2014/main" val="2710049334"/>
                    </a:ext>
                  </a:extLst>
                </a:gridCol>
                <a:gridCol w="905087">
                  <a:extLst>
                    <a:ext uri="{9D8B030D-6E8A-4147-A177-3AD203B41FA5}">
                      <a16:colId xmlns:a16="http://schemas.microsoft.com/office/drawing/2014/main" val="2611320412"/>
                    </a:ext>
                  </a:extLst>
                </a:gridCol>
                <a:gridCol w="905087">
                  <a:extLst>
                    <a:ext uri="{9D8B030D-6E8A-4147-A177-3AD203B41FA5}">
                      <a16:colId xmlns:a16="http://schemas.microsoft.com/office/drawing/2014/main" val="2630910156"/>
                    </a:ext>
                  </a:extLst>
                </a:gridCol>
                <a:gridCol w="905087">
                  <a:extLst>
                    <a:ext uri="{9D8B030D-6E8A-4147-A177-3AD203B41FA5}">
                      <a16:colId xmlns:a16="http://schemas.microsoft.com/office/drawing/2014/main" val="3725884164"/>
                    </a:ext>
                  </a:extLst>
                </a:gridCol>
                <a:gridCol w="905087">
                  <a:extLst>
                    <a:ext uri="{9D8B030D-6E8A-4147-A177-3AD203B41FA5}">
                      <a16:colId xmlns:a16="http://schemas.microsoft.com/office/drawing/2014/main" val="2299851281"/>
                    </a:ext>
                  </a:extLst>
                </a:gridCol>
                <a:gridCol w="849647">
                  <a:extLst>
                    <a:ext uri="{9D8B030D-6E8A-4147-A177-3AD203B41FA5}">
                      <a16:colId xmlns:a16="http://schemas.microsoft.com/office/drawing/2014/main" val="1109313306"/>
                    </a:ext>
                  </a:extLst>
                </a:gridCol>
                <a:gridCol w="932155">
                  <a:extLst>
                    <a:ext uri="{9D8B030D-6E8A-4147-A177-3AD203B41FA5}">
                      <a16:colId xmlns:a16="http://schemas.microsoft.com/office/drawing/2014/main" val="1295136055"/>
                    </a:ext>
                  </a:extLst>
                </a:gridCol>
                <a:gridCol w="861134">
                  <a:extLst>
                    <a:ext uri="{9D8B030D-6E8A-4147-A177-3AD203B41FA5}">
                      <a16:colId xmlns:a16="http://schemas.microsoft.com/office/drawing/2014/main" val="775258111"/>
                    </a:ext>
                  </a:extLst>
                </a:gridCol>
                <a:gridCol w="585927">
                  <a:extLst>
                    <a:ext uri="{9D8B030D-6E8A-4147-A177-3AD203B41FA5}">
                      <a16:colId xmlns:a16="http://schemas.microsoft.com/office/drawing/2014/main" val="2347589145"/>
                    </a:ext>
                  </a:extLst>
                </a:gridCol>
                <a:gridCol w="656947">
                  <a:extLst>
                    <a:ext uri="{9D8B030D-6E8A-4147-A177-3AD203B41FA5}">
                      <a16:colId xmlns:a16="http://schemas.microsoft.com/office/drawing/2014/main" val="2591877841"/>
                    </a:ext>
                  </a:extLst>
                </a:gridCol>
                <a:gridCol w="745724">
                  <a:extLst>
                    <a:ext uri="{9D8B030D-6E8A-4147-A177-3AD203B41FA5}">
                      <a16:colId xmlns:a16="http://schemas.microsoft.com/office/drawing/2014/main" val="3512545498"/>
                    </a:ext>
                  </a:extLst>
                </a:gridCol>
                <a:gridCol w="798991">
                  <a:extLst>
                    <a:ext uri="{9D8B030D-6E8A-4147-A177-3AD203B41FA5}">
                      <a16:colId xmlns:a16="http://schemas.microsoft.com/office/drawing/2014/main" val="3931468253"/>
                    </a:ext>
                  </a:extLst>
                </a:gridCol>
              </a:tblGrid>
              <a:tr h="3757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X7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X6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X5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X4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X3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X2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X1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X0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X9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  <a:endParaRPr lang="en-US" altLang="ko-KR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X8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K3</a:t>
                      </a:r>
                    </a:p>
                    <a:p>
                      <a:pPr latinLnBrk="1"/>
                      <a:r>
                        <a:rPr lang="en-US" altLang="ko-KR" sz="1200" dirty="0"/>
                        <a:t>LED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K2</a:t>
                      </a:r>
                    </a:p>
                    <a:p>
                      <a:pPr latinLnBrk="1"/>
                      <a:r>
                        <a:rPr lang="en-US" altLang="ko-KR" sz="1200" dirty="0"/>
                        <a:t>LED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K1</a:t>
                      </a:r>
                    </a:p>
                    <a:p>
                      <a:pPr latinLnBrk="1"/>
                      <a:r>
                        <a:rPr lang="en-US" altLang="ko-KR" sz="1200" dirty="0"/>
                        <a:t>LED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K0</a:t>
                      </a:r>
                    </a:p>
                    <a:p>
                      <a:pPr latinLnBrk="1"/>
                      <a:r>
                        <a:rPr lang="en-US" altLang="ko-KR" sz="1200" dirty="0"/>
                        <a:t>LED</a:t>
                      </a:r>
                      <a:endParaRPr lang="ko-KR" alt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03477171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555349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310913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37263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161372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864423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029648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405430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816906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345553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107099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419223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96046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621844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969381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419077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282271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55949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825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7315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66C66-5E55-F85F-F0D0-FB95D233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646" y="0"/>
            <a:ext cx="10515600" cy="762339"/>
          </a:xfrm>
        </p:spPr>
        <p:txBody>
          <a:bodyPr>
            <a:normAutofit fontScale="90000"/>
          </a:bodyPr>
          <a:lstStyle/>
          <a:p>
            <a:r>
              <a:rPr lang="ko-KR" altLang="en-US" sz="3200" dirty="0"/>
              <a:t>문제 </a:t>
            </a:r>
            <a:r>
              <a:rPr lang="en-US" altLang="ko-KR" sz="3200" dirty="0"/>
              <a:t>6 : </a:t>
            </a:r>
            <a:r>
              <a:rPr lang="ko-KR" altLang="en-US" sz="3200" dirty="0"/>
              <a:t>동작테이블 </a:t>
            </a:r>
            <a:r>
              <a:rPr lang="en-US" altLang="ko-KR" sz="3200" dirty="0"/>
              <a:t>(X9 </a:t>
            </a:r>
            <a:r>
              <a:rPr lang="ko-KR" altLang="en-US" sz="3200" dirty="0"/>
              <a:t>스위치가 </a:t>
            </a:r>
            <a:r>
              <a:rPr lang="en-US" altLang="ko-KR" sz="3200" dirty="0"/>
              <a:t>1,</a:t>
            </a:r>
            <a:r>
              <a:rPr lang="ko-KR" altLang="en-US" sz="3200" dirty="0"/>
              <a:t> </a:t>
            </a:r>
            <a:r>
              <a:rPr lang="en-US" altLang="ko-KR" sz="3200" dirty="0"/>
              <a:t>X8</a:t>
            </a:r>
            <a:r>
              <a:rPr lang="ko-KR" altLang="en-US" sz="3200" dirty="0"/>
              <a:t>의 스위치가 </a:t>
            </a:r>
            <a:r>
              <a:rPr lang="en-US" altLang="ko-KR" sz="3200" dirty="0"/>
              <a:t>0</a:t>
            </a:r>
            <a:r>
              <a:rPr lang="ko-KR" altLang="en-US" sz="3200" dirty="0"/>
              <a:t>일 때</a:t>
            </a:r>
            <a:r>
              <a:rPr lang="en-US" altLang="ko-KR" sz="3200" dirty="0"/>
              <a:t>)</a:t>
            </a:r>
            <a:endParaRPr lang="ko-KR" altLang="en-US" sz="32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33CACCB-B4C3-C744-ABCB-6BDF97711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49916"/>
              </p:ext>
            </p:extLst>
          </p:nvPr>
        </p:nvGraphicFramePr>
        <p:xfrm>
          <a:off x="328473" y="560181"/>
          <a:ext cx="11780668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620">
                  <a:extLst>
                    <a:ext uri="{9D8B030D-6E8A-4147-A177-3AD203B41FA5}">
                      <a16:colId xmlns:a16="http://schemas.microsoft.com/office/drawing/2014/main" val="1195691116"/>
                    </a:ext>
                  </a:extLst>
                </a:gridCol>
                <a:gridCol w="928802">
                  <a:extLst>
                    <a:ext uri="{9D8B030D-6E8A-4147-A177-3AD203B41FA5}">
                      <a16:colId xmlns:a16="http://schemas.microsoft.com/office/drawing/2014/main" val="2467857280"/>
                    </a:ext>
                  </a:extLst>
                </a:gridCol>
                <a:gridCol w="881373">
                  <a:extLst>
                    <a:ext uri="{9D8B030D-6E8A-4147-A177-3AD203B41FA5}">
                      <a16:colId xmlns:a16="http://schemas.microsoft.com/office/drawing/2014/main" val="2710049334"/>
                    </a:ext>
                  </a:extLst>
                </a:gridCol>
                <a:gridCol w="905087">
                  <a:extLst>
                    <a:ext uri="{9D8B030D-6E8A-4147-A177-3AD203B41FA5}">
                      <a16:colId xmlns:a16="http://schemas.microsoft.com/office/drawing/2014/main" val="2611320412"/>
                    </a:ext>
                  </a:extLst>
                </a:gridCol>
                <a:gridCol w="905087">
                  <a:extLst>
                    <a:ext uri="{9D8B030D-6E8A-4147-A177-3AD203B41FA5}">
                      <a16:colId xmlns:a16="http://schemas.microsoft.com/office/drawing/2014/main" val="2630910156"/>
                    </a:ext>
                  </a:extLst>
                </a:gridCol>
                <a:gridCol w="905087">
                  <a:extLst>
                    <a:ext uri="{9D8B030D-6E8A-4147-A177-3AD203B41FA5}">
                      <a16:colId xmlns:a16="http://schemas.microsoft.com/office/drawing/2014/main" val="3725884164"/>
                    </a:ext>
                  </a:extLst>
                </a:gridCol>
                <a:gridCol w="905087">
                  <a:extLst>
                    <a:ext uri="{9D8B030D-6E8A-4147-A177-3AD203B41FA5}">
                      <a16:colId xmlns:a16="http://schemas.microsoft.com/office/drawing/2014/main" val="2299851281"/>
                    </a:ext>
                  </a:extLst>
                </a:gridCol>
                <a:gridCol w="849647">
                  <a:extLst>
                    <a:ext uri="{9D8B030D-6E8A-4147-A177-3AD203B41FA5}">
                      <a16:colId xmlns:a16="http://schemas.microsoft.com/office/drawing/2014/main" val="1109313306"/>
                    </a:ext>
                  </a:extLst>
                </a:gridCol>
                <a:gridCol w="932155">
                  <a:extLst>
                    <a:ext uri="{9D8B030D-6E8A-4147-A177-3AD203B41FA5}">
                      <a16:colId xmlns:a16="http://schemas.microsoft.com/office/drawing/2014/main" val="1295136055"/>
                    </a:ext>
                  </a:extLst>
                </a:gridCol>
                <a:gridCol w="861134">
                  <a:extLst>
                    <a:ext uri="{9D8B030D-6E8A-4147-A177-3AD203B41FA5}">
                      <a16:colId xmlns:a16="http://schemas.microsoft.com/office/drawing/2014/main" val="775258111"/>
                    </a:ext>
                  </a:extLst>
                </a:gridCol>
                <a:gridCol w="585927">
                  <a:extLst>
                    <a:ext uri="{9D8B030D-6E8A-4147-A177-3AD203B41FA5}">
                      <a16:colId xmlns:a16="http://schemas.microsoft.com/office/drawing/2014/main" val="2347589145"/>
                    </a:ext>
                  </a:extLst>
                </a:gridCol>
                <a:gridCol w="656947">
                  <a:extLst>
                    <a:ext uri="{9D8B030D-6E8A-4147-A177-3AD203B41FA5}">
                      <a16:colId xmlns:a16="http://schemas.microsoft.com/office/drawing/2014/main" val="2591877841"/>
                    </a:ext>
                  </a:extLst>
                </a:gridCol>
                <a:gridCol w="745724">
                  <a:extLst>
                    <a:ext uri="{9D8B030D-6E8A-4147-A177-3AD203B41FA5}">
                      <a16:colId xmlns:a16="http://schemas.microsoft.com/office/drawing/2014/main" val="3512545498"/>
                    </a:ext>
                  </a:extLst>
                </a:gridCol>
                <a:gridCol w="798991">
                  <a:extLst>
                    <a:ext uri="{9D8B030D-6E8A-4147-A177-3AD203B41FA5}">
                      <a16:colId xmlns:a16="http://schemas.microsoft.com/office/drawing/2014/main" val="3931468253"/>
                    </a:ext>
                  </a:extLst>
                </a:gridCol>
              </a:tblGrid>
              <a:tr h="3757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X7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X6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X5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X4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X3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X2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X1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X0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X9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  <a:endParaRPr lang="en-US" altLang="ko-KR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X8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K3</a:t>
                      </a:r>
                    </a:p>
                    <a:p>
                      <a:pPr latinLnBrk="1"/>
                      <a:r>
                        <a:rPr lang="en-US" altLang="ko-KR" sz="1200" dirty="0"/>
                        <a:t>LED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K2</a:t>
                      </a:r>
                    </a:p>
                    <a:p>
                      <a:pPr latinLnBrk="1"/>
                      <a:r>
                        <a:rPr lang="en-US" altLang="ko-KR" sz="1200" dirty="0"/>
                        <a:t>LED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K1</a:t>
                      </a:r>
                    </a:p>
                    <a:p>
                      <a:pPr latinLnBrk="1"/>
                      <a:r>
                        <a:rPr lang="en-US" altLang="ko-KR" sz="1200" dirty="0"/>
                        <a:t>LED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K0</a:t>
                      </a:r>
                    </a:p>
                    <a:p>
                      <a:pPr latinLnBrk="1"/>
                      <a:r>
                        <a:rPr lang="en-US" altLang="ko-KR" sz="1200" dirty="0"/>
                        <a:t>LED</a:t>
                      </a:r>
                      <a:endParaRPr lang="ko-KR" alt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03477171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555349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310913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37263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161372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864423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029648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405430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816906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345553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107099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419223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96046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621844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969381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419077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282271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55949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825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3085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66C66-5E55-F85F-F0D0-FB95D233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646" y="0"/>
            <a:ext cx="10515600" cy="762339"/>
          </a:xfrm>
        </p:spPr>
        <p:txBody>
          <a:bodyPr>
            <a:normAutofit/>
          </a:bodyPr>
          <a:lstStyle/>
          <a:p>
            <a:r>
              <a:rPr lang="ko-KR" altLang="en-US" sz="3200" dirty="0"/>
              <a:t>문제 </a:t>
            </a:r>
            <a:r>
              <a:rPr lang="en-US" altLang="ko-KR" sz="3200" dirty="0"/>
              <a:t>6 : </a:t>
            </a:r>
            <a:r>
              <a:rPr lang="ko-KR" altLang="en-US" sz="3200" dirty="0"/>
              <a:t>동작테이블 </a:t>
            </a:r>
            <a:r>
              <a:rPr lang="en-US" altLang="ko-KR" sz="3200" dirty="0"/>
              <a:t>(X9 </a:t>
            </a:r>
            <a:r>
              <a:rPr lang="ko-KR" altLang="en-US" sz="3200" dirty="0"/>
              <a:t>스위치와 </a:t>
            </a:r>
            <a:r>
              <a:rPr lang="en-US" altLang="ko-KR" sz="3200" dirty="0"/>
              <a:t>X8</a:t>
            </a:r>
            <a:r>
              <a:rPr lang="ko-KR" altLang="en-US" sz="3200" dirty="0"/>
              <a:t>의 스위치가 </a:t>
            </a:r>
            <a:r>
              <a:rPr lang="en-US" altLang="ko-KR" sz="3200" dirty="0"/>
              <a:t>1</a:t>
            </a:r>
            <a:r>
              <a:rPr lang="ko-KR" altLang="en-US" sz="3200" dirty="0"/>
              <a:t>일 때</a:t>
            </a:r>
            <a:r>
              <a:rPr lang="en-US" altLang="ko-KR" sz="3200" dirty="0"/>
              <a:t>)</a:t>
            </a:r>
            <a:endParaRPr lang="ko-KR" altLang="en-US" sz="32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33CACCB-B4C3-C744-ABCB-6BDF97711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040054"/>
              </p:ext>
            </p:extLst>
          </p:nvPr>
        </p:nvGraphicFramePr>
        <p:xfrm>
          <a:off x="328473" y="560181"/>
          <a:ext cx="11780668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620">
                  <a:extLst>
                    <a:ext uri="{9D8B030D-6E8A-4147-A177-3AD203B41FA5}">
                      <a16:colId xmlns:a16="http://schemas.microsoft.com/office/drawing/2014/main" val="1195691116"/>
                    </a:ext>
                  </a:extLst>
                </a:gridCol>
                <a:gridCol w="928802">
                  <a:extLst>
                    <a:ext uri="{9D8B030D-6E8A-4147-A177-3AD203B41FA5}">
                      <a16:colId xmlns:a16="http://schemas.microsoft.com/office/drawing/2014/main" val="2467857280"/>
                    </a:ext>
                  </a:extLst>
                </a:gridCol>
                <a:gridCol w="881373">
                  <a:extLst>
                    <a:ext uri="{9D8B030D-6E8A-4147-A177-3AD203B41FA5}">
                      <a16:colId xmlns:a16="http://schemas.microsoft.com/office/drawing/2014/main" val="2710049334"/>
                    </a:ext>
                  </a:extLst>
                </a:gridCol>
                <a:gridCol w="905087">
                  <a:extLst>
                    <a:ext uri="{9D8B030D-6E8A-4147-A177-3AD203B41FA5}">
                      <a16:colId xmlns:a16="http://schemas.microsoft.com/office/drawing/2014/main" val="2611320412"/>
                    </a:ext>
                  </a:extLst>
                </a:gridCol>
                <a:gridCol w="905087">
                  <a:extLst>
                    <a:ext uri="{9D8B030D-6E8A-4147-A177-3AD203B41FA5}">
                      <a16:colId xmlns:a16="http://schemas.microsoft.com/office/drawing/2014/main" val="2630910156"/>
                    </a:ext>
                  </a:extLst>
                </a:gridCol>
                <a:gridCol w="905087">
                  <a:extLst>
                    <a:ext uri="{9D8B030D-6E8A-4147-A177-3AD203B41FA5}">
                      <a16:colId xmlns:a16="http://schemas.microsoft.com/office/drawing/2014/main" val="3725884164"/>
                    </a:ext>
                  </a:extLst>
                </a:gridCol>
                <a:gridCol w="905087">
                  <a:extLst>
                    <a:ext uri="{9D8B030D-6E8A-4147-A177-3AD203B41FA5}">
                      <a16:colId xmlns:a16="http://schemas.microsoft.com/office/drawing/2014/main" val="2299851281"/>
                    </a:ext>
                  </a:extLst>
                </a:gridCol>
                <a:gridCol w="849647">
                  <a:extLst>
                    <a:ext uri="{9D8B030D-6E8A-4147-A177-3AD203B41FA5}">
                      <a16:colId xmlns:a16="http://schemas.microsoft.com/office/drawing/2014/main" val="1109313306"/>
                    </a:ext>
                  </a:extLst>
                </a:gridCol>
                <a:gridCol w="932155">
                  <a:extLst>
                    <a:ext uri="{9D8B030D-6E8A-4147-A177-3AD203B41FA5}">
                      <a16:colId xmlns:a16="http://schemas.microsoft.com/office/drawing/2014/main" val="1295136055"/>
                    </a:ext>
                  </a:extLst>
                </a:gridCol>
                <a:gridCol w="861134">
                  <a:extLst>
                    <a:ext uri="{9D8B030D-6E8A-4147-A177-3AD203B41FA5}">
                      <a16:colId xmlns:a16="http://schemas.microsoft.com/office/drawing/2014/main" val="775258111"/>
                    </a:ext>
                  </a:extLst>
                </a:gridCol>
                <a:gridCol w="585927">
                  <a:extLst>
                    <a:ext uri="{9D8B030D-6E8A-4147-A177-3AD203B41FA5}">
                      <a16:colId xmlns:a16="http://schemas.microsoft.com/office/drawing/2014/main" val="2347589145"/>
                    </a:ext>
                  </a:extLst>
                </a:gridCol>
                <a:gridCol w="656947">
                  <a:extLst>
                    <a:ext uri="{9D8B030D-6E8A-4147-A177-3AD203B41FA5}">
                      <a16:colId xmlns:a16="http://schemas.microsoft.com/office/drawing/2014/main" val="2591877841"/>
                    </a:ext>
                  </a:extLst>
                </a:gridCol>
                <a:gridCol w="745724">
                  <a:extLst>
                    <a:ext uri="{9D8B030D-6E8A-4147-A177-3AD203B41FA5}">
                      <a16:colId xmlns:a16="http://schemas.microsoft.com/office/drawing/2014/main" val="3512545498"/>
                    </a:ext>
                  </a:extLst>
                </a:gridCol>
                <a:gridCol w="798991">
                  <a:extLst>
                    <a:ext uri="{9D8B030D-6E8A-4147-A177-3AD203B41FA5}">
                      <a16:colId xmlns:a16="http://schemas.microsoft.com/office/drawing/2014/main" val="3931468253"/>
                    </a:ext>
                  </a:extLst>
                </a:gridCol>
              </a:tblGrid>
              <a:tr h="3757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X7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X6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X5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X4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X3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X2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X1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X0</a:t>
                      </a:r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X9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  <a:endParaRPr lang="en-US" altLang="ko-KR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X8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ko-KR" altLang="en-US" sz="1200" dirty="0"/>
                        <a:t>스위치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K3</a:t>
                      </a:r>
                    </a:p>
                    <a:p>
                      <a:pPr latinLnBrk="1"/>
                      <a:r>
                        <a:rPr lang="en-US" altLang="ko-KR" sz="1200" dirty="0"/>
                        <a:t>LED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K2</a:t>
                      </a:r>
                    </a:p>
                    <a:p>
                      <a:pPr latinLnBrk="1"/>
                      <a:r>
                        <a:rPr lang="en-US" altLang="ko-KR" sz="1200" dirty="0"/>
                        <a:t>LED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K1</a:t>
                      </a:r>
                    </a:p>
                    <a:p>
                      <a:pPr latinLnBrk="1"/>
                      <a:r>
                        <a:rPr lang="en-US" altLang="ko-KR" sz="1200" dirty="0"/>
                        <a:t>LED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K0</a:t>
                      </a:r>
                    </a:p>
                    <a:p>
                      <a:pPr latinLnBrk="1"/>
                      <a:r>
                        <a:rPr lang="en-US" altLang="ko-KR" sz="1200" dirty="0"/>
                        <a:t>LED</a:t>
                      </a:r>
                      <a:endParaRPr lang="ko-KR" alt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03477171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555349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310913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37263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161372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864423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029648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405430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816906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345553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107099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419223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96046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621844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969381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419077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282271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55949"/>
                  </a:ext>
                </a:extLst>
              </a:tr>
              <a:tr h="228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825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4237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950BEC-F86D-61E1-49FE-939CAD8DF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/>
              <a:t>문제 </a:t>
            </a:r>
            <a:r>
              <a:rPr lang="en-US" altLang="ko-KR" sz="4400" dirty="0"/>
              <a:t>6 : </a:t>
            </a:r>
            <a:r>
              <a:rPr lang="ko-KR" altLang="en-US" sz="4400" dirty="0"/>
              <a:t>동작테이블 해석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7E6539-298D-2AF2-C24E-603B988E2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X8</a:t>
            </a:r>
            <a:r>
              <a:rPr lang="ko-KR" altLang="en-US" dirty="0"/>
              <a:t>과 </a:t>
            </a:r>
            <a:r>
              <a:rPr lang="en-US" altLang="ko-KR" dirty="0"/>
              <a:t>X9</a:t>
            </a:r>
            <a:r>
              <a:rPr lang="ko-KR" altLang="en-US" dirty="0"/>
              <a:t>의 스위치가 둘 다 </a:t>
            </a:r>
            <a:r>
              <a:rPr lang="en-US" altLang="ko-KR" dirty="0"/>
              <a:t>0</a:t>
            </a:r>
            <a:r>
              <a:rPr lang="ko-KR" altLang="en-US" dirty="0" err="1"/>
              <a:t>일때</a:t>
            </a:r>
            <a:r>
              <a:rPr lang="ko-KR" altLang="en-US" dirty="0"/>
              <a:t> </a:t>
            </a:r>
            <a:r>
              <a:rPr lang="en-US" altLang="ko-KR" dirty="0"/>
              <a:t>unknown(X)</a:t>
            </a:r>
            <a:r>
              <a:rPr lang="ko-KR" altLang="en-US" dirty="0"/>
              <a:t>이 발생하고 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X8</a:t>
            </a:r>
            <a:r>
              <a:rPr lang="ko-KR" altLang="en-US" dirty="0"/>
              <a:t>과 </a:t>
            </a:r>
            <a:r>
              <a:rPr lang="en-US" altLang="ko-KR" dirty="0"/>
              <a:t>X9</a:t>
            </a:r>
            <a:r>
              <a:rPr lang="ko-KR" altLang="en-US" dirty="0"/>
              <a:t>의 스위치가 둘 다 </a:t>
            </a:r>
            <a:r>
              <a:rPr lang="en-US" altLang="ko-KR" dirty="0"/>
              <a:t>1</a:t>
            </a:r>
            <a:r>
              <a:rPr lang="ko-KR" altLang="en-US" dirty="0"/>
              <a:t>이거나 하나라도 </a:t>
            </a:r>
            <a:r>
              <a:rPr lang="en-US" altLang="ko-KR" dirty="0"/>
              <a:t>1</a:t>
            </a:r>
            <a:r>
              <a:rPr lang="ko-KR" altLang="en-US" dirty="0"/>
              <a:t>이면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unknown(X) </a:t>
            </a:r>
            <a:r>
              <a:rPr lang="ko-KR" altLang="en-US" dirty="0"/>
              <a:t>이 발생하지 않습니다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2812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E7646A6F-9F9B-C70C-F2B3-ED732AA16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023" y="1690688"/>
            <a:ext cx="11984122" cy="42963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9066C66-5E55-F85F-F0D0-FB95D233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1" y="365125"/>
            <a:ext cx="11292395" cy="1325563"/>
          </a:xfrm>
        </p:spPr>
        <p:txBody>
          <a:bodyPr/>
          <a:lstStyle/>
          <a:p>
            <a:r>
              <a:rPr lang="ko-KR" altLang="en-US" dirty="0"/>
              <a:t>문제</a:t>
            </a:r>
            <a:r>
              <a:rPr lang="en-US" altLang="ko-KR" dirty="0"/>
              <a:t>6 </a:t>
            </a:r>
            <a:r>
              <a:rPr lang="ko-KR" altLang="en-US" dirty="0"/>
              <a:t>조건처리문</a:t>
            </a:r>
            <a:r>
              <a:rPr lang="en-US" altLang="ko-KR" dirty="0"/>
              <a:t>(case)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가상회로 및 </a:t>
            </a:r>
            <a:r>
              <a:rPr lang="en-US" altLang="ko-KR" dirty="0" err="1"/>
              <a:t>fpga</a:t>
            </a:r>
            <a:r>
              <a:rPr lang="ko-KR" altLang="en-US" dirty="0"/>
              <a:t>회로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216E16-0838-F407-471D-41982C6CBA6B}"/>
              </a:ext>
            </a:extLst>
          </p:cNvPr>
          <p:cNvSpPr txBox="1"/>
          <p:nvPr/>
        </p:nvSpPr>
        <p:spPr>
          <a:xfrm>
            <a:off x="9218904" y="1679872"/>
            <a:ext cx="2112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err="1"/>
              <a:t>Fpga</a:t>
            </a:r>
            <a:r>
              <a:rPr lang="en-US" altLang="ko-KR" sz="2800" dirty="0"/>
              <a:t> </a:t>
            </a:r>
            <a:r>
              <a:rPr lang="ko-KR" altLang="en-US" sz="2800" dirty="0"/>
              <a:t>회로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062CA8-80D3-4BFA-43D3-7A88D97BC01A}"/>
              </a:ext>
            </a:extLst>
          </p:cNvPr>
          <p:cNvSpPr txBox="1"/>
          <p:nvPr/>
        </p:nvSpPr>
        <p:spPr>
          <a:xfrm>
            <a:off x="1621097" y="2905780"/>
            <a:ext cx="2112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가상회로</a:t>
            </a:r>
          </a:p>
        </p:txBody>
      </p:sp>
    </p:spTree>
    <p:extLst>
      <p:ext uri="{BB962C8B-B14F-4D97-AF65-F5344CB8AC3E}">
        <p14:creationId xmlns:p14="http://schemas.microsoft.com/office/powerpoint/2010/main" val="1450740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2CDF953-6FB2-ED3D-17B7-58AC194D7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39" y="2038880"/>
            <a:ext cx="10898121" cy="432495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9066C66-5E55-F85F-F0D0-FB95D233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1" y="365125"/>
            <a:ext cx="11292395" cy="1325563"/>
          </a:xfrm>
        </p:spPr>
        <p:txBody>
          <a:bodyPr/>
          <a:lstStyle/>
          <a:p>
            <a:r>
              <a:rPr lang="ko-KR" altLang="en-US" dirty="0"/>
              <a:t>문제</a:t>
            </a:r>
            <a:r>
              <a:rPr lang="en-US" altLang="ko-KR" dirty="0"/>
              <a:t>6 </a:t>
            </a:r>
            <a:r>
              <a:rPr lang="ko-KR" altLang="en-US" dirty="0"/>
              <a:t>조건처리문</a:t>
            </a:r>
            <a:r>
              <a:rPr lang="en-US" altLang="ko-KR" dirty="0"/>
              <a:t>(</a:t>
            </a:r>
            <a:r>
              <a:rPr lang="en-US" altLang="ko-KR" dirty="0" err="1"/>
              <a:t>if~then~else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가상회로 및 </a:t>
            </a:r>
            <a:r>
              <a:rPr lang="en-US" altLang="ko-KR" dirty="0" err="1"/>
              <a:t>fpga</a:t>
            </a:r>
            <a:r>
              <a:rPr lang="ko-KR" altLang="en-US" dirty="0"/>
              <a:t>회로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216E16-0838-F407-471D-41982C6CBA6B}"/>
              </a:ext>
            </a:extLst>
          </p:cNvPr>
          <p:cNvSpPr txBox="1"/>
          <p:nvPr/>
        </p:nvSpPr>
        <p:spPr>
          <a:xfrm>
            <a:off x="9201149" y="1690688"/>
            <a:ext cx="2112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err="1"/>
              <a:t>Fpga</a:t>
            </a:r>
            <a:r>
              <a:rPr lang="en-US" altLang="ko-KR" sz="2800" dirty="0"/>
              <a:t> </a:t>
            </a:r>
            <a:r>
              <a:rPr lang="ko-KR" altLang="en-US" sz="2800" dirty="0"/>
              <a:t>회로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062CA8-80D3-4BFA-43D3-7A88D97BC01A}"/>
              </a:ext>
            </a:extLst>
          </p:cNvPr>
          <p:cNvSpPr txBox="1"/>
          <p:nvPr/>
        </p:nvSpPr>
        <p:spPr>
          <a:xfrm>
            <a:off x="1328134" y="2934632"/>
            <a:ext cx="2112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가상회로</a:t>
            </a:r>
          </a:p>
        </p:txBody>
      </p:sp>
    </p:spTree>
    <p:extLst>
      <p:ext uri="{BB962C8B-B14F-4D97-AF65-F5344CB8AC3E}">
        <p14:creationId xmlns:p14="http://schemas.microsoft.com/office/powerpoint/2010/main" val="3340297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29A41C9-308A-7906-5030-5AC40D259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96" y="1783597"/>
            <a:ext cx="10955279" cy="439163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9066C66-5E55-F85F-F0D0-FB95D233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1" y="365125"/>
            <a:ext cx="11292395" cy="1325563"/>
          </a:xfrm>
        </p:spPr>
        <p:txBody>
          <a:bodyPr>
            <a:normAutofit/>
          </a:bodyPr>
          <a:lstStyle/>
          <a:p>
            <a:r>
              <a:rPr lang="ko-KR" altLang="en-US" dirty="0"/>
              <a:t>문제</a:t>
            </a:r>
            <a:r>
              <a:rPr lang="en-US" altLang="ko-KR" dirty="0"/>
              <a:t>6 </a:t>
            </a:r>
            <a:r>
              <a:rPr lang="ko-KR" altLang="en-US" dirty="0"/>
              <a:t>병행처리문</a:t>
            </a:r>
            <a:r>
              <a:rPr lang="en-US" altLang="ko-KR" dirty="0"/>
              <a:t>(</a:t>
            </a:r>
            <a:r>
              <a:rPr lang="en-US" altLang="ko-KR" dirty="0" err="1"/>
              <a:t>when~else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가상회로 및 </a:t>
            </a:r>
            <a:r>
              <a:rPr lang="en-US" altLang="ko-KR" dirty="0" err="1"/>
              <a:t>fpga</a:t>
            </a:r>
            <a:r>
              <a:rPr lang="ko-KR" altLang="en-US" dirty="0"/>
              <a:t>회로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216E16-0838-F407-471D-41982C6CBA6B}"/>
              </a:ext>
            </a:extLst>
          </p:cNvPr>
          <p:cNvSpPr txBox="1"/>
          <p:nvPr/>
        </p:nvSpPr>
        <p:spPr>
          <a:xfrm>
            <a:off x="9010835" y="1260377"/>
            <a:ext cx="2112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err="1"/>
              <a:t>Fpga</a:t>
            </a:r>
            <a:r>
              <a:rPr lang="en-US" altLang="ko-KR" sz="2800" dirty="0"/>
              <a:t> </a:t>
            </a:r>
            <a:r>
              <a:rPr lang="ko-KR" altLang="en-US" sz="2800" dirty="0"/>
              <a:t>회로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062CA8-80D3-4BFA-43D3-7A88D97BC01A}"/>
              </a:ext>
            </a:extLst>
          </p:cNvPr>
          <p:cNvSpPr txBox="1"/>
          <p:nvPr/>
        </p:nvSpPr>
        <p:spPr>
          <a:xfrm>
            <a:off x="928639" y="2822737"/>
            <a:ext cx="2112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가상회로</a:t>
            </a:r>
          </a:p>
        </p:txBody>
      </p:sp>
    </p:spTree>
    <p:extLst>
      <p:ext uri="{BB962C8B-B14F-4D97-AF65-F5344CB8AC3E}">
        <p14:creationId xmlns:p14="http://schemas.microsoft.com/office/powerpoint/2010/main" val="3932284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122BA60-28C7-6C99-0F8A-CD67672DE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41" y="1841403"/>
            <a:ext cx="11450648" cy="434400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9066C66-5E55-F85F-F0D0-FB95D233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1" y="365125"/>
            <a:ext cx="11292395" cy="1325563"/>
          </a:xfrm>
        </p:spPr>
        <p:txBody>
          <a:bodyPr/>
          <a:lstStyle/>
          <a:p>
            <a:r>
              <a:rPr lang="ko-KR" altLang="en-US" dirty="0"/>
              <a:t>문제</a:t>
            </a:r>
            <a:r>
              <a:rPr lang="en-US" altLang="ko-KR" dirty="0"/>
              <a:t>6 </a:t>
            </a:r>
            <a:r>
              <a:rPr lang="ko-KR" altLang="en-US" dirty="0"/>
              <a:t>병행처리문</a:t>
            </a:r>
            <a:r>
              <a:rPr lang="en-US" altLang="ko-KR" dirty="0"/>
              <a:t>(</a:t>
            </a:r>
            <a:r>
              <a:rPr lang="en-US" altLang="ko-KR" dirty="0" err="1"/>
              <a:t>with~select~when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가상회로 및 </a:t>
            </a:r>
            <a:r>
              <a:rPr lang="en-US" altLang="ko-KR" dirty="0" err="1"/>
              <a:t>fpga</a:t>
            </a:r>
            <a:r>
              <a:rPr lang="ko-KR" altLang="en-US" dirty="0"/>
              <a:t>회로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216E16-0838-F407-471D-41982C6CBA6B}"/>
              </a:ext>
            </a:extLst>
          </p:cNvPr>
          <p:cNvSpPr txBox="1"/>
          <p:nvPr/>
        </p:nvSpPr>
        <p:spPr>
          <a:xfrm>
            <a:off x="8792777" y="1579793"/>
            <a:ext cx="2112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err="1"/>
              <a:t>Fpga</a:t>
            </a:r>
            <a:r>
              <a:rPr lang="en-US" altLang="ko-KR" sz="2800" dirty="0"/>
              <a:t> </a:t>
            </a:r>
            <a:r>
              <a:rPr lang="ko-KR" altLang="en-US" sz="2800" dirty="0"/>
              <a:t>회로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062CA8-80D3-4BFA-43D3-7A88D97BC01A}"/>
              </a:ext>
            </a:extLst>
          </p:cNvPr>
          <p:cNvSpPr txBox="1"/>
          <p:nvPr/>
        </p:nvSpPr>
        <p:spPr>
          <a:xfrm>
            <a:off x="2215901" y="2905780"/>
            <a:ext cx="2112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가상회로</a:t>
            </a:r>
          </a:p>
        </p:txBody>
      </p:sp>
    </p:spTree>
    <p:extLst>
      <p:ext uri="{BB962C8B-B14F-4D97-AF65-F5344CB8AC3E}">
        <p14:creationId xmlns:p14="http://schemas.microsoft.com/office/powerpoint/2010/main" val="747201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66C66-5E55-F85F-F0D0-FB95D233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56037" cy="1325563"/>
          </a:xfrm>
        </p:spPr>
        <p:txBody>
          <a:bodyPr/>
          <a:lstStyle/>
          <a:p>
            <a:r>
              <a:rPr lang="ko-KR" altLang="en-US" dirty="0"/>
              <a:t>문제</a:t>
            </a:r>
            <a:r>
              <a:rPr lang="en-US" altLang="ko-KR" dirty="0"/>
              <a:t>6 </a:t>
            </a:r>
            <a:r>
              <a:rPr lang="ko-KR" altLang="en-US" dirty="0"/>
              <a:t>실행화면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DCC1F18-D448-CF98-0DDE-27D3AC60E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3364"/>
            <a:ext cx="12192000" cy="167563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64E5B54-3CC9-E56F-D79E-6D894B9A7A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91676"/>
            <a:ext cx="12192000" cy="19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66C66-5E55-F85F-F0D0-FB95D233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56037" cy="1325563"/>
          </a:xfrm>
        </p:spPr>
        <p:txBody>
          <a:bodyPr/>
          <a:lstStyle/>
          <a:p>
            <a:r>
              <a:rPr lang="ko-KR" altLang="en-US" dirty="0"/>
              <a:t>문제</a:t>
            </a:r>
            <a:r>
              <a:rPr lang="en-US" altLang="ko-KR" dirty="0"/>
              <a:t>6 </a:t>
            </a:r>
            <a:r>
              <a:rPr lang="ko-KR" altLang="en-US" dirty="0"/>
              <a:t>실행화면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30883A3-9654-6E02-A963-60B17E3E6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44326"/>
            <a:ext cx="12192000" cy="163668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9808449-A1BE-E81F-8840-05AFBF967D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79087"/>
            <a:ext cx="12192000" cy="198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731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1602</Words>
  <Application>Microsoft Office PowerPoint</Application>
  <PresentationFormat>와이드스크린</PresentationFormat>
  <Paragraphs>1367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Week10 team과제</vt:lpstr>
      <vt:lpstr>문제 2 : 동작테이블</vt:lpstr>
      <vt:lpstr>문제2 조건처리문(case) :  가상회로 및 fpga회로</vt:lpstr>
      <vt:lpstr>문제2 조건처리문(if~then~else) :  가상회로 및 fpga회로</vt:lpstr>
      <vt:lpstr>문제2 병행처리문(with~select~when) :  가상회로 및 fpga회로</vt:lpstr>
      <vt:lpstr>문제2 병행처리문(when~else) :  가상회로 및 fpga회로</vt:lpstr>
      <vt:lpstr>문제2 : 실행화면</vt:lpstr>
      <vt:lpstr>문제 6 : 동작테이블 (X9 스위치와 X8의 스위치가 0일 때)</vt:lpstr>
      <vt:lpstr>문제 6 : 동작테이블 (X9 스위치가 0, X8의 스위치가 1일 때)</vt:lpstr>
      <vt:lpstr>문제 6 : 동작테이블 (X9 스위치가 1, X8의 스위치가 0일 때)</vt:lpstr>
      <vt:lpstr>문제 6 : 동작테이블 (X9 스위치와 X8의 스위치가 1일 때)</vt:lpstr>
      <vt:lpstr>문제 6 : 동작테이블 해석</vt:lpstr>
      <vt:lpstr>문제6 조건처리문(case) :  가상회로 및 fpga회로</vt:lpstr>
      <vt:lpstr>문제6 조건처리문(if~then~else) :  가상회로 및 fpga회로</vt:lpstr>
      <vt:lpstr>문제6 병행처리문(when~else) :  가상회로 및 fpga회로</vt:lpstr>
      <vt:lpstr>문제6 병행처리문(with~select~when) :  가상회로 및 fpga회로</vt:lpstr>
      <vt:lpstr>문제6 실행화면</vt:lpstr>
      <vt:lpstr>문제6 실행화면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Week10 team과제</dc:title>
  <dc:creator>taemin choi</dc:creator>
  <cp:lastModifiedBy>taemin choi</cp:lastModifiedBy>
  <cp:revision>6</cp:revision>
  <dcterms:created xsi:type="dcterms:W3CDTF">2024-05-07T16:11:21Z</dcterms:created>
  <dcterms:modified xsi:type="dcterms:W3CDTF">2024-05-08T07:00:41Z</dcterms:modified>
</cp:coreProperties>
</file>